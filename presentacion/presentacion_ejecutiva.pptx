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FFFFFF"/>
                </a:solidFill>
                <a:latin typeface="Arial"/>
              </a:defRPr>
            </a:pPr>
            <a:r>
              <a:rPr sz="1400" b="0" i="0" u="none" strike="noStrike">
                <a:solidFill>
                  <a:srgbClr val="FFFFFF"/>
                </a:solidFill>
                <a:latin typeface="Arial"/>
              </a:rPr>
              <a:t>Mediana por municipio (%)</a:t>
            </a:r>
          </a:p>
        </c:rich>
      </c:tx>
      <c:layout/>
      <c:overlay val="0"/>
    </c:title>
    <c:autoTitleDeleted val="0"/>
    <c:plotArea>
      <c:layout/>
      <c:barChart>
        <c:barDir val="bar"/>
        <c:grouping val="clustered"/>
        <c:varyColors val="0"/>
        <c:ser>
          <c:idx val="0"/>
          <c:order val="0"/>
          <c:tx>
            <c:strRef>
              <c:f>Sheet1!$B$1</c:f>
              <c:strCache>
                <c:ptCount val="1"/>
                <c:pt idx="0">
                  <c:v>Con McDonald's</c:v>
                </c:pt>
              </c:strCache>
            </c:strRef>
          </c:tx>
          <c:spPr>
            <a:solidFill>
              <a:srgbClr val="FFC72C"/>
            </a:solidFill>
            <a:effectLst/>
          </c:spPr>
          <c:invertIfNegative val="0"/>
          <c:dLbls>
            <c:numFmt formatCode="0.0&quot; %&quot;" sourceLinked="0"/>
            <c:txPr>
              <a:bodyPr/>
              <a:lstStyle/>
              <a:p>
                <a:pPr>
                  <a:defRPr b="1" i="0" strike="noStrike" sz="1200" u="none">
                    <a:solidFill>
                      <a:srgbClr val="FFFFFF"/>
                    </a:solidFill>
                    <a:latin typeface="Arial"/>
                  </a:defRPr>
                </a:pPr>
              </a:p>
            </c:txPr>
            <c:showLegendKey val="0"/>
            <c:showVal val="1"/>
            <c:showCatName val="0"/>
            <c:showSerName val="0"/>
            <c:showPercent val="0"/>
            <c:showBubbleSize val="0"/>
            <c:showLeaderLines val="0"/>
          </c:dLbls>
          <c:cat>
            <c:multiLvlStrRef>
              <c:f>Sheet1!$A$2:$A$5</c:f>
              <c:multiLvlStrCache>
                <c:ptCount val="4"/>
                <c:lvl>
                  <c:pt idx="0">
                    <c:v>Internet en la vivienda</c:v>
                  </c:pt>
                  <c:pt idx="1">
                    <c:v>Afiliación al IMSS o ISSSTE</c:v>
                  </c:pt>
                  <c:pt idx="2">
                    <c:v>Población urbana</c:v>
                  </c:pt>
                  <c:pt idx="3">
                    <c:v>Vivienda con automóvil</c:v>
                  </c:pt>
                </c:lvl>
              </c:multiLvlStrCache>
            </c:multiLvlStrRef>
          </c:cat>
          <c:val>
            <c:numRef>
              <c:f>Sheet1!$B$2:$B$5</c:f>
              <c:numCache>
                <c:formatCode>General</c:formatCode>
                <c:ptCount val="4"/>
                <c:pt idx="0">
                  <c:v>64.8</c:v>
                </c:pt>
                <c:pt idx="1">
                  <c:v>56</c:v>
                </c:pt>
                <c:pt idx="2">
                  <c:v>91.3</c:v>
                </c:pt>
                <c:pt idx="3">
                  <c:v>51.4</c:v>
                </c:pt>
              </c:numCache>
            </c:numRef>
          </c:val>
        </c:ser>
        <c:ser>
          <c:idx val="1"/>
          <c:order val="1"/>
          <c:tx>
            <c:strRef>
              <c:f>Sheet1!$C$1</c:f>
              <c:strCache>
                <c:ptCount val="1"/>
                <c:pt idx="0">
                  <c:v>Sin McDonald's</c:v>
                </c:pt>
              </c:strCache>
            </c:strRef>
          </c:tx>
          <c:spPr>
            <a:solidFill>
              <a:srgbClr val="C8C8C8"/>
            </a:solidFill>
            <a:effectLst/>
          </c:spPr>
          <c:invertIfNegative val="0"/>
          <c:dLbls>
            <c:numFmt formatCode="0.0&quot; %&quot;" sourceLinked="0"/>
            <c:txPr>
              <a:bodyPr/>
              <a:lstStyle/>
              <a:p>
                <a:pPr>
                  <a:defRPr b="1" i="0" strike="noStrike" sz="1200" u="none">
                    <a:solidFill>
                      <a:srgbClr val="FFFFFF"/>
                    </a:solidFill>
                    <a:latin typeface="Arial"/>
                  </a:defRPr>
                </a:pPr>
              </a:p>
            </c:txPr>
            <c:showLegendKey val="0"/>
            <c:showVal val="1"/>
            <c:showCatName val="0"/>
            <c:showSerName val="0"/>
            <c:showPercent val="0"/>
            <c:showBubbleSize val="0"/>
            <c:showLeaderLines val="0"/>
          </c:dLbls>
          <c:cat>
            <c:multiLvlStrRef>
              <c:f>Sheet1!$A$2:$A$5</c:f>
              <c:multiLvlStrCache>
                <c:ptCount val="4"/>
                <c:lvl>
                  <c:pt idx="0">
                    <c:v>Internet en la vivienda</c:v>
                  </c:pt>
                  <c:pt idx="1">
                    <c:v>Afiliación al IMSS o ISSSTE</c:v>
                  </c:pt>
                  <c:pt idx="2">
                    <c:v>Población urbana</c:v>
                  </c:pt>
                  <c:pt idx="3">
                    <c:v>Vivienda con automóvil</c:v>
                  </c:pt>
                </c:lvl>
              </c:multiLvlStrCache>
            </c:multiLvlStrRef>
          </c:cat>
          <c:val>
            <c:numRef>
              <c:f>Sheet1!$C$2:$C$5</c:f>
              <c:numCache>
                <c:formatCode>General</c:formatCode>
                <c:ptCount val="4"/>
                <c:pt idx="0">
                  <c:v>23.1</c:v>
                </c:pt>
                <c:pt idx="1">
                  <c:v>15.3</c:v>
                </c:pt>
                <c:pt idx="2">
                  <c:v>0</c:v>
                </c:pt>
                <c:pt idx="3">
                  <c:v>31.1</c:v>
                </c:pt>
              </c:numCache>
            </c:numRef>
          </c:val>
        </c:ser>
        <c:dLbls>
          <c:numFmt formatCode="0.0&quot; %&quot;" sourceLinked="0"/>
          <c:txPr>
            <a:bodyPr/>
            <a:lstStyle/>
            <a:p>
              <a:pPr>
                <a:defRPr b="1" i="0" strike="noStrike" sz="1200" u="none">
                  <a:solidFill>
                    <a:srgbClr val="FFFFFF"/>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BFBFBF"/>
            </a:solidFill>
            <a:prstDash val="solid"/>
            <a:round/>
          </a:ln>
        </c:spPr>
        <c:txPr>
          <a:bodyPr/>
          <a:lstStyle/>
          <a:p>
            <a:pPr>
              <a:defRPr sz="1300" b="0" i="0" u="none" strike="noStrike">
                <a:solidFill>
                  <a:srgbClr val="FFFFFF"/>
                </a:solidFill>
                <a:latin typeface="Arial"/>
              </a:defRPr>
            </a:pPr>
            <a:endParaRPr lang="en-US"/>
          </a:p>
        </c:txPr>
        <c:crossAx val="2094734552"/>
        <c:crosses val="autoZero"/>
        <c:auto val="1"/>
        <c:lblAlgn val="ctr"/>
        <c:noMultiLvlLbl val="1"/>
      </c:catAx>
      <c:valAx>
        <c:axId val="2094734552"/>
        <c:scaling>
          <c:orientation val="minMax"/>
          <c:max val="11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1A1A1A"/>
        </a:solidFill>
        <a:ln>
          <a:noFill/>
        </a:ln>
        <a:effectLst/>
      </c:spPr>
    </c:plotArea>
    <c:legend>
      <c:legendPos val="b"/>
      <c:overlay val="0"/>
      <c:txPr>
        <a:bodyPr/>
        <a:lstStyle/>
        <a:p>
          <a:pPr>
            <a:defRPr sz="1300">
              <a:solidFill>
                <a:srgbClr val="FFFFFF"/>
              </a:solidFill>
              <a:latin typeface="Arial"/>
              <a:cs typeface="Arial"/>
            </a:defRPr>
          </a:pPr>
          <a:endParaRPr lang="en-US"/>
        </a:p>
      </c:txPr>
    </c:legend>
    <c:plotVisOnly val="1"/>
    <c:dispBlanksAs val="span"/>
  </c:chart>
  <c:spPr>
    <a:solidFill>
      <a:srgbClr val="1A1A1A"/>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FFFFFF"/>
                </a:solidFill>
                <a:latin typeface="Arial"/>
              </a:defRPr>
            </a:pPr>
            <a:r>
              <a:rPr sz="1300" b="0" i="0" u="none" strike="noStrike">
                <a:solidFill>
                  <a:srgbClr val="FFFFFF"/>
                </a:solidFill>
                <a:latin typeface="Arial"/>
              </a:rPr>
              <a:t>Rango y probabilidad fuera de pliegue</a:t>
            </a:r>
          </a:p>
        </c:rich>
      </c:tx>
      <c:layout/>
      <c:overlay val="0"/>
    </c:title>
    <c:autoTitleDeleted val="0"/>
    <c:plotArea>
      <c:layout/>
      <c:barChart>
        <c:barDir val="bar"/>
        <c:grouping val="clustered"/>
        <c:varyColors val="0"/>
        <c:ser>
          <c:idx val="0"/>
          <c:order val="0"/>
          <c:tx>
            <c:strRef>
              <c:f>Sheet1!$B$1</c:f>
              <c:strCache>
                <c:ptCount val="1"/>
                <c:pt idx="0">
                  <c:v>Probabilidad</c:v>
                </c:pt>
              </c:strCache>
            </c:strRef>
          </c:tx>
          <c:spPr>
            <a:solidFill>
              <a:srgbClr val="FFC72C"/>
            </a:solidFill>
            <a:effectLst/>
          </c:spPr>
          <c:invertIfNegative val="0"/>
          <c:dLbls>
            <c:numFmt formatCode="0.00" sourceLinked="0"/>
            <c:txPr>
              <a:bodyPr/>
              <a:lstStyle/>
              <a:p>
                <a:pPr>
                  <a:defRPr b="0" i="0" strike="noStrike" sz="1100" u="none">
                    <a:solidFill>
                      <a:srgbClr val="FFFFFF"/>
                    </a:solidFill>
                    <a:latin typeface="Arial"/>
                  </a:defRPr>
                </a:pPr>
              </a:p>
            </c:txPr>
            <c:showLegendKey val="0"/>
            <c:showVal val="1"/>
            <c:showCatName val="0"/>
            <c:showSerName val="0"/>
            <c:showPercent val="0"/>
            <c:showBubbleSize val="0"/>
            <c:showLeaderLines val="0"/>
          </c:dLbls>
          <c:cat>
            <c:multiLvlStrRef>
              <c:f>Sheet1!$A$2:$A$14</c:f>
              <c:multiLvlStrCache>
                <c:ptCount val="13"/>
                <c:lvl>
                  <c:pt idx="0">
                    <c:v>1 Tepic</c:v>
                  </c:pt>
                  <c:pt idx="1">
                    <c:v>5 Corregidora</c:v>
                  </c:pt>
                  <c:pt idx="2">
                    <c:v>6 Manzanillo</c:v>
                  </c:pt>
                  <c:pt idx="3">
                    <c:v>7 Villa de Álvarez</c:v>
                  </c:pt>
                  <c:pt idx="4">
                    <c:v>9 Delicias</c:v>
                  </c:pt>
                  <c:pt idx="5">
                    <c:v>10 Xochimilco</c:v>
                  </c:pt>
                  <c:pt idx="6">
                    <c:v>11 Soledad de G. S.</c:v>
                  </c:pt>
                  <c:pt idx="7">
                    <c:v>12 San Luis Río Colorado</c:v>
                  </c:pt>
                  <c:pt idx="8">
                    <c:v>14 Juárez (N. L.)</c:v>
                  </c:pt>
                  <c:pt idx="9">
                    <c:v>15 Poza Rica</c:v>
                  </c:pt>
                  <c:pt idx="10">
                    <c:v>16 Tizayuca</c:v>
                  </c:pt>
                  <c:pt idx="11">
                    <c:v>17 Nicolás Romero</c:v>
                  </c:pt>
                  <c:pt idx="12">
                    <c:v>18 Salamanca</c:v>
                  </c:pt>
                </c:lvl>
              </c:multiLvlStrCache>
            </c:multiLvlStrRef>
          </c:cat>
          <c:val>
            <c:numRef>
              <c:f>Sheet1!$B$2:$B$14</c:f>
              <c:numCache>
                <c:formatCode>General</c:formatCode>
                <c:ptCount val="13"/>
                <c:pt idx="0">
                  <c:v>0.99</c:v>
                </c:pt>
                <c:pt idx="1">
                  <c:v>0.984</c:v>
                </c:pt>
                <c:pt idx="2">
                  <c:v>0.979</c:v>
                </c:pt>
                <c:pt idx="3">
                  <c:v>0.957</c:v>
                </c:pt>
                <c:pt idx="4">
                  <c:v>0.951</c:v>
                </c:pt>
                <c:pt idx="5">
                  <c:v>0.948</c:v>
                </c:pt>
                <c:pt idx="6">
                  <c:v>0.937</c:v>
                </c:pt>
                <c:pt idx="7">
                  <c:v>0.935</c:v>
                </c:pt>
                <c:pt idx="8">
                  <c:v>0.923</c:v>
                </c:pt>
                <c:pt idx="9">
                  <c:v>0.906</c:v>
                </c:pt>
                <c:pt idx="10">
                  <c:v>0.869</c:v>
                </c:pt>
                <c:pt idx="11">
                  <c:v>0.866</c:v>
                </c:pt>
                <c:pt idx="12">
                  <c:v>0.862</c:v>
                </c:pt>
              </c:numCache>
            </c:numRef>
          </c:val>
        </c:ser>
        <c:dLbls>
          <c:numFmt formatCode="0.00" sourceLinked="0"/>
          <c:txPr>
            <a:bodyPr/>
            <a:lstStyle/>
            <a:p>
              <a:pPr>
                <a:defRPr b="0" i="0" strike="noStrike" sz="1100" u="none">
                  <a:solidFill>
                    <a:srgbClr val="FFFFFF"/>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595959"/>
            </a:solidFill>
            <a:prstDash val="solid"/>
            <a:round/>
          </a:ln>
        </c:spPr>
        <c:txPr>
          <a:bodyPr/>
          <a:lstStyle/>
          <a:p>
            <a:pPr>
              <a:defRPr sz="1200" b="0" i="0" u="none" strike="noStrike">
                <a:solidFill>
                  <a:srgbClr val="FFFFFF"/>
                </a:solidFill>
                <a:latin typeface="Arial"/>
              </a:defRPr>
            </a:pPr>
            <a:endParaRPr lang="en-US"/>
          </a:p>
        </c:txPr>
        <c:crossAx val="2094734552"/>
        <c:crosses val="autoZero"/>
        <c:auto val="1"/>
        <c:lblAlgn val="ctr"/>
        <c:noMultiLvlLbl val="1"/>
      </c:catAx>
      <c:valAx>
        <c:axId val="2094734552"/>
        <c:scaling>
          <c:orientation val="minMax"/>
          <c:max val="1.12"/>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1A1A1A"/>
        </a:solidFill>
        <a:ln>
          <a:noFill/>
        </a:ln>
        <a:effectLst/>
      </c:spPr>
    </c:plotArea>
    <c:plotVisOnly val="1"/>
    <c:dispBlanksAs val="span"/>
  </c:chart>
  <c:spPr>
    <a:solidFill>
      <a:srgbClr val="1A1A1A"/>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McDonald's tiene más de 380 sucursales en México y quiere llegar a 400. La pregunta de negocio es dónde abrir las próximas veinte. Para responderla analicé los 2,469 municipios del país con datos públicos del INEGI.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Crucé el directorio de negocios del INEGI de mayo de 2026, con más de 800 mil restaurantes y hoteles, con el Censo 2020. Identifiqué 417 sucursales en 123 municipios y describí cada municipio con quince variables de demanda, poder adquisitivo, empleo, sector restaurantero y competencia. Con ellas entrené y comparé tres modelos de clasificación.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perfil de McDonald's es claro: un municipio donde opera la marca tiene más de 125 mil habitantes, al menos tres cadenas rivales, internet en casi la mitad de los hogares y un sector restaurantero con empleo formal. Es decir, en el conjunto de entrenamiento, los 45 municipios que cumplen el perfil completo ya tienen sucursal.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mejor modelo que pude encontrar fue un random forest. Lo evalué con la curva ROC, y su área bajo la curva, el AUC, es de 0.99. Es decir, si comparo un municipio con McDonald's contra uno sin él, el modelo acierta cuál es cuál en el 99 % de los casos. La prueba más fuerte es que, de los veinte municipios que señaló como candidatos, cinco ya tienen un McDonald's que el directorio todavía no registraba, como Apodaca, abierto en noviembre de 2025. En otras palabras, el modelo encuentra los mercados donde la empresa ya está creciendo.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Finalmente, de los veinte candidatos quedan trece oportunidades. Recomendaría empezar por Tepic, capital de Nayarit con 426 mil habitantes y sin McDonald's, y densificar zonas metropolitanas como Corregidora y Xochimilco, por mencionar algunas. El siguiente paso es el estudio de sitio en estos trece municipios.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1A"/>
        </a:solidFill>
      </p:bgPr>
    </p:bg>
    <p:spTree>
      <p:nvGrpSpPr>
        <p:cNvPr id="1" name=""/>
        <p:cNvGrpSpPr/>
        <p:nvPr/>
      </p:nvGrpSpPr>
      <p:grpSpPr>
        <a:xfrm>
          <a:off x="0" y="0"/>
          <a:ext cx="0" cy="0"/>
          <a:chOff x="0" y="0"/>
          <a:chExt cx="0" cy="0"/>
        </a:xfrm>
      </p:grpSpPr>
      <p:sp>
        <p:nvSpPr>
          <p:cNvPr id="2" name="Shape 0"/>
          <p:cNvSpPr/>
          <p:nvPr/>
        </p:nvSpPr>
        <p:spPr>
          <a:xfrm>
            <a:off x="548640" y="411480"/>
            <a:ext cx="3931920" cy="347472"/>
          </a:xfrm>
          <a:prstGeom prst="roundRect">
            <a:avLst>
              <a:gd name="adj" fmla="val 50000"/>
            </a:avLst>
          </a:prstGeom>
          <a:solidFill>
            <a:srgbClr val="FFC72C"/>
          </a:solidFill>
          <a:ln w="12700">
            <a:solidFill>
              <a:srgbClr val="FFC72C"/>
            </a:solidFill>
            <a:prstDash val="solid"/>
          </a:ln>
        </p:spPr>
      </p:sp>
      <p:sp>
        <p:nvSpPr>
          <p:cNvPr id="3" name="Text 1"/>
          <p:cNvSpPr txBox="1"/>
          <p:nvPr/>
        </p:nvSpPr>
        <p:spPr>
          <a:xfrm>
            <a:off x="548640" y="411480"/>
            <a:ext cx="3931920" cy="347472"/>
          </a:xfrm>
          <a:prstGeom prst="rect">
            <a:avLst/>
          </a:prstGeom>
          <a:noFill/>
          <a:ln/>
        </p:spPr>
        <p:txBody>
          <a:bodyPr wrap="square" lIns="0" tIns="0" rIns="0" bIns="0" rtlCol="0" anchor="ctr"/>
          <a:lstStyle/>
          <a:p>
            <a:pPr algn="ctr" indent="0" marL="0">
              <a:buNone/>
            </a:pPr>
            <a:r>
              <a:rPr lang="en-US" sz="1200" b="1" spc="100" kern="0" dirty="0">
                <a:solidFill>
                  <a:srgbClr val="1A1A1A"/>
                </a:solidFill>
                <a:latin typeface="Arial" pitchFamily="34" charset="0"/>
                <a:ea typeface="Arial" pitchFamily="34" charset="-122"/>
                <a:cs typeface="Arial" pitchFamily="34" charset="-120"/>
              </a:rPr>
              <a:t>PROYECTO FINAL · MINERÍA DE DATOS</a:t>
            </a:r>
            <a:endParaRPr lang="en-US" sz="1200" dirty="0"/>
          </a:p>
        </p:txBody>
      </p:sp>
      <p:sp>
        <p:nvSpPr>
          <p:cNvPr id="4" name="Text 2"/>
          <p:cNvSpPr txBox="1"/>
          <p:nvPr/>
        </p:nvSpPr>
        <p:spPr>
          <a:xfrm>
            <a:off x="548640" y="960120"/>
            <a:ext cx="11094415" cy="548640"/>
          </a:xfrm>
          <a:prstGeom prst="rect">
            <a:avLst/>
          </a:prstGeom>
          <a:noFill/>
          <a:ln/>
        </p:spPr>
        <p:txBody>
          <a:bodyPr wrap="square" lIns="0" tIns="0" rIns="0" bIns="0" rtlCol="0" anchor="ctr"/>
          <a:lstStyle/>
          <a:p>
            <a:pPr indent="0" marL="0">
              <a:buNone/>
            </a:pPr>
            <a:r>
              <a:rPr lang="en-US" sz="2600" b="1" dirty="0">
                <a:solidFill>
                  <a:srgbClr val="FFFFFF"/>
                </a:solidFill>
                <a:latin typeface="Arial" pitchFamily="34" charset="0"/>
                <a:ea typeface="Arial" pitchFamily="34" charset="-122"/>
                <a:cs typeface="Arial" pitchFamily="34" charset="-120"/>
              </a:rPr>
              <a:t>¿Dónde debe abrir McDonald's sus próximas 20 sucursales?</a:t>
            </a:r>
            <a:endParaRPr lang="en-US" sz="2600" dirty="0"/>
          </a:p>
        </p:txBody>
      </p:sp>
      <p:sp>
        <p:nvSpPr>
          <p:cNvPr id="5" name="Text 3"/>
          <p:cNvSpPr txBox="1"/>
          <p:nvPr/>
        </p:nvSpPr>
        <p:spPr>
          <a:xfrm>
            <a:off x="548640" y="1536192"/>
            <a:ext cx="11094415" cy="411480"/>
          </a:xfrm>
          <a:prstGeom prst="rect">
            <a:avLst/>
          </a:prstGeom>
          <a:noFill/>
          <a:ln/>
        </p:spPr>
        <p:txBody>
          <a:bodyPr wrap="square" lIns="0" tIns="0" rIns="0" bIns="0" rtlCol="0" anchor="ctr"/>
          <a:lstStyle/>
          <a:p>
            <a:pPr indent="0" marL="0">
              <a:buNone/>
            </a:pPr>
            <a:r>
              <a:rPr lang="en-US" sz="1800" dirty="0">
                <a:solidFill>
                  <a:srgbClr val="FFC72C"/>
                </a:solidFill>
                <a:latin typeface="Arial" pitchFamily="34" charset="0"/>
                <a:ea typeface="Arial" pitchFamily="34" charset="-122"/>
                <a:cs typeface="Arial" pitchFamily="34" charset="-120"/>
              </a:rPr>
              <a:t>Criba nacional de municipios con datos del INEGI: DENUE 2026 y Censo 2020</a:t>
            </a:r>
            <a:endParaRPr lang="en-US" sz="1800" dirty="0"/>
          </a:p>
        </p:txBody>
      </p:sp>
      <p:sp>
        <p:nvSpPr>
          <p:cNvPr id="6" name="Text 4"/>
          <p:cNvSpPr txBox="1"/>
          <p:nvPr/>
        </p:nvSpPr>
        <p:spPr>
          <a:xfrm>
            <a:off x="548640" y="1965960"/>
            <a:ext cx="11094415" cy="365760"/>
          </a:xfrm>
          <a:prstGeom prst="rect">
            <a:avLst/>
          </a:prstGeom>
          <a:noFill/>
          <a:ln/>
        </p:spPr>
        <p:txBody>
          <a:bodyPr wrap="square" lIns="0" tIns="0" rIns="0" bIns="0" rtlCol="0" anchor="ctr"/>
          <a:lstStyle/>
          <a:p>
            <a:pPr indent="0" marL="0">
              <a:buNone/>
            </a:pPr>
            <a:r>
              <a:rPr lang="en-US" sz="1800" dirty="0">
                <a:solidFill>
                  <a:srgbClr val="FFFFFF"/>
                </a:solidFill>
                <a:latin typeface="Arial" pitchFamily="34" charset="0"/>
                <a:ea typeface="Arial" pitchFamily="34" charset="-122"/>
                <a:cs typeface="Arial" pitchFamily="34" charset="-120"/>
              </a:rPr>
              <a:t>Diego Jiménez González · Módulo IV – Minería de Datos · Septiembre de 2026</a:t>
            </a:r>
            <a:endParaRPr lang="en-US" sz="1800" dirty="0"/>
          </a:p>
        </p:txBody>
      </p:sp>
      <p:sp>
        <p:nvSpPr>
          <p:cNvPr id="7" name="Text 5"/>
          <p:cNvSpPr txBox="1"/>
          <p:nvPr/>
        </p:nvSpPr>
        <p:spPr>
          <a:xfrm>
            <a:off x="548640" y="2743200"/>
            <a:ext cx="4206240" cy="822960"/>
          </a:xfrm>
          <a:prstGeom prst="rect">
            <a:avLst/>
          </a:prstGeom>
          <a:noFill/>
          <a:ln/>
        </p:spPr>
        <p:txBody>
          <a:bodyPr wrap="square" lIns="0" tIns="0" rIns="0" bIns="0" rtlCol="0" anchor="b"/>
          <a:lstStyle/>
          <a:p>
            <a:pPr indent="0" marL="0">
              <a:buNone/>
            </a:pPr>
            <a:r>
              <a:rPr lang="en-US" sz="5400" b="1" dirty="0">
                <a:solidFill>
                  <a:srgbClr val="FFC72C"/>
                </a:solidFill>
                <a:latin typeface="Arial" pitchFamily="34" charset="0"/>
                <a:ea typeface="Arial" pitchFamily="34" charset="-122"/>
                <a:cs typeface="Arial" pitchFamily="34" charset="-120"/>
              </a:rPr>
              <a:t>380 → 400</a:t>
            </a:r>
            <a:endParaRPr lang="en-US" sz="5400" dirty="0"/>
          </a:p>
        </p:txBody>
      </p:sp>
      <p:sp>
        <p:nvSpPr>
          <p:cNvPr id="8" name="Text 6"/>
          <p:cNvSpPr txBox="1"/>
          <p:nvPr/>
        </p:nvSpPr>
        <p:spPr>
          <a:xfrm>
            <a:off x="548640" y="3639312"/>
            <a:ext cx="4206240" cy="685800"/>
          </a:xfrm>
          <a:prstGeom prst="rect">
            <a:avLst/>
          </a:prstGeom>
          <a:noFill/>
          <a:ln/>
        </p:spPr>
        <p:txBody>
          <a:bodyPr wrap="square" lIns="0" tIns="0" rIns="0" bIns="0" rtlCol="0" anchor="t"/>
          <a:lstStyle/>
          <a:p>
            <a:pPr indent="0" marL="0">
              <a:buNone/>
            </a:pPr>
            <a:r>
              <a:rPr lang="en-US" sz="1800" dirty="0">
                <a:solidFill>
                  <a:srgbClr val="FFFFFF"/>
                </a:solidFill>
                <a:latin typeface="Arial" pitchFamily="34" charset="0"/>
                <a:ea typeface="Arial" pitchFamily="34" charset="-122"/>
                <a:cs typeface="Arial" pitchFamily="34" charset="-120"/>
              </a:rPr>
              <a:t>sucursales hoy y meta de la operadora en México</a:t>
            </a:r>
            <a:endParaRPr lang="en-US" sz="1800" dirty="0"/>
          </a:p>
        </p:txBody>
      </p:sp>
      <p:sp>
        <p:nvSpPr>
          <p:cNvPr id="9" name="Text 7"/>
          <p:cNvSpPr txBox="1"/>
          <p:nvPr/>
        </p:nvSpPr>
        <p:spPr>
          <a:xfrm>
            <a:off x="5120640" y="2743200"/>
            <a:ext cx="3017520" cy="822960"/>
          </a:xfrm>
          <a:prstGeom prst="rect">
            <a:avLst/>
          </a:prstGeom>
          <a:noFill/>
          <a:ln/>
        </p:spPr>
        <p:txBody>
          <a:bodyPr wrap="square" lIns="0" tIns="0" rIns="0" bIns="0" rtlCol="0" anchor="b"/>
          <a:lstStyle/>
          <a:p>
            <a:pPr indent="0" marL="0">
              <a:buNone/>
            </a:pPr>
            <a:r>
              <a:rPr lang="en-US" sz="5400" b="1" dirty="0">
                <a:solidFill>
                  <a:srgbClr val="FFC72C"/>
                </a:solidFill>
                <a:latin typeface="Arial" pitchFamily="34" charset="0"/>
                <a:ea typeface="Arial" pitchFamily="34" charset="-122"/>
                <a:cs typeface="Arial" pitchFamily="34" charset="-120"/>
              </a:rPr>
              <a:t>2,469</a:t>
            </a:r>
            <a:endParaRPr lang="en-US" sz="5400" dirty="0"/>
          </a:p>
        </p:txBody>
      </p:sp>
      <p:sp>
        <p:nvSpPr>
          <p:cNvPr id="10" name="Text 8"/>
          <p:cNvSpPr txBox="1"/>
          <p:nvPr/>
        </p:nvSpPr>
        <p:spPr>
          <a:xfrm>
            <a:off x="5120640" y="3639312"/>
            <a:ext cx="3017520" cy="685800"/>
          </a:xfrm>
          <a:prstGeom prst="rect">
            <a:avLst/>
          </a:prstGeom>
          <a:noFill/>
          <a:ln/>
        </p:spPr>
        <p:txBody>
          <a:bodyPr wrap="square" lIns="0" tIns="0" rIns="0" bIns="0" rtlCol="0" anchor="t"/>
          <a:lstStyle/>
          <a:p>
            <a:pPr indent="0" marL="0">
              <a:buNone/>
            </a:pPr>
            <a:r>
              <a:rPr lang="en-US" sz="1800" dirty="0">
                <a:solidFill>
                  <a:srgbClr val="FFFFFF"/>
                </a:solidFill>
                <a:latin typeface="Arial" pitchFamily="34" charset="0"/>
                <a:ea typeface="Arial" pitchFamily="34" charset="-122"/>
                <a:cs typeface="Arial" pitchFamily="34" charset="-120"/>
              </a:rPr>
              <a:t>municipios analizados, cada uno con 15 variables</a:t>
            </a:r>
            <a:endParaRPr lang="en-US" sz="1800" dirty="0"/>
          </a:p>
        </p:txBody>
      </p:sp>
      <p:sp>
        <p:nvSpPr>
          <p:cNvPr id="11" name="Text 9"/>
          <p:cNvSpPr txBox="1"/>
          <p:nvPr/>
        </p:nvSpPr>
        <p:spPr>
          <a:xfrm>
            <a:off x="8503920" y="2743200"/>
            <a:ext cx="3136392" cy="822960"/>
          </a:xfrm>
          <a:prstGeom prst="rect">
            <a:avLst/>
          </a:prstGeom>
          <a:noFill/>
          <a:ln/>
        </p:spPr>
        <p:txBody>
          <a:bodyPr wrap="square" lIns="0" tIns="0" rIns="0" bIns="0" rtlCol="0" anchor="b"/>
          <a:lstStyle/>
          <a:p>
            <a:pPr indent="0" marL="0">
              <a:buNone/>
            </a:pPr>
            <a:r>
              <a:rPr lang="en-US" sz="5400" b="1" dirty="0">
                <a:solidFill>
                  <a:srgbClr val="FFC72C"/>
                </a:solidFill>
                <a:latin typeface="Arial" pitchFamily="34" charset="0"/>
                <a:ea typeface="Arial" pitchFamily="34" charset="-122"/>
                <a:cs typeface="Arial" pitchFamily="34" charset="-120"/>
              </a:rPr>
              <a:t>417</a:t>
            </a:r>
            <a:endParaRPr lang="en-US" sz="5400" dirty="0"/>
          </a:p>
        </p:txBody>
      </p:sp>
      <p:sp>
        <p:nvSpPr>
          <p:cNvPr id="12" name="Text 10"/>
          <p:cNvSpPr txBox="1"/>
          <p:nvPr/>
        </p:nvSpPr>
        <p:spPr>
          <a:xfrm>
            <a:off x="8503920" y="3639312"/>
            <a:ext cx="3136392" cy="685800"/>
          </a:xfrm>
          <a:prstGeom prst="rect">
            <a:avLst/>
          </a:prstGeom>
          <a:noFill/>
          <a:ln/>
        </p:spPr>
        <p:txBody>
          <a:bodyPr wrap="square" lIns="0" tIns="0" rIns="0" bIns="0" rtlCol="0" anchor="t"/>
          <a:lstStyle/>
          <a:p>
            <a:pPr indent="0" marL="0">
              <a:buNone/>
            </a:pPr>
            <a:r>
              <a:rPr lang="en-US" sz="1800" dirty="0">
                <a:solidFill>
                  <a:srgbClr val="FFFFFF"/>
                </a:solidFill>
                <a:latin typeface="Arial" pitchFamily="34" charset="0"/>
                <a:ea typeface="Arial" pitchFamily="34" charset="-122"/>
                <a:cs typeface="Arial" pitchFamily="34" charset="-120"/>
              </a:rPr>
              <a:t>sucursales identificadas en 123 municipios</a:t>
            </a:r>
            <a:endParaRPr lang="en-US" sz="1800" dirty="0"/>
          </a:p>
        </p:txBody>
      </p:sp>
      <p:sp>
        <p:nvSpPr>
          <p:cNvPr id="13" name="Shape 11"/>
          <p:cNvSpPr/>
          <p:nvPr/>
        </p:nvSpPr>
        <p:spPr>
          <a:xfrm>
            <a:off x="548640" y="4983480"/>
            <a:ext cx="11094415" cy="960120"/>
          </a:xfrm>
          <a:prstGeom prst="roundRect">
            <a:avLst>
              <a:gd name="adj" fmla="val 14286"/>
            </a:avLst>
          </a:prstGeom>
          <a:solidFill>
            <a:srgbClr val="FFC72C"/>
          </a:solidFill>
          <a:ln w="12700">
            <a:solidFill>
              <a:srgbClr val="FFC72C"/>
            </a:solidFill>
            <a:prstDash val="solid"/>
          </a:ln>
        </p:spPr>
      </p:sp>
      <p:sp>
        <p:nvSpPr>
          <p:cNvPr id="14" name="Text 12"/>
          <p:cNvSpPr txBox="1"/>
          <p:nvPr/>
        </p:nvSpPr>
        <p:spPr>
          <a:xfrm>
            <a:off x="822960" y="4983480"/>
            <a:ext cx="10545775" cy="960120"/>
          </a:xfrm>
          <a:prstGeom prst="rect">
            <a:avLst/>
          </a:prstGeom>
          <a:noFill/>
          <a:ln/>
        </p:spPr>
        <p:txBody>
          <a:bodyPr wrap="square" lIns="0" tIns="0" rIns="0" bIns="0" rtlCol="0" anchor="ctr"/>
          <a:lstStyle/>
          <a:p>
            <a:pPr indent="0" marL="0">
              <a:buNone/>
            </a:pPr>
            <a:r>
              <a:rPr lang="en-US" sz="1800" b="1" dirty="0">
                <a:solidFill>
                  <a:srgbClr val="1A1A1A"/>
                </a:solidFill>
                <a:latin typeface="Arial" pitchFamily="34" charset="0"/>
                <a:ea typeface="Arial" pitchFamily="34" charset="-122"/>
                <a:cs typeface="Arial" pitchFamily="34" charset="-120"/>
              </a:rPr>
              <a:t>Pregunta de negocio: </a:t>
            </a:r>
            <a:pPr indent="0" marL="0">
              <a:buNone/>
            </a:pPr>
            <a:r>
              <a:rPr lang="en-US" sz="1800" i="1" dirty="0">
                <a:solidFill>
                  <a:srgbClr val="1A1A1A"/>
                </a:solidFill>
                <a:latin typeface="Arial" pitchFamily="34" charset="0"/>
                <a:ea typeface="Arial" pitchFamily="34" charset="-122"/>
                <a:cs typeface="Arial" pitchFamily="34" charset="-120"/>
              </a:rPr>
              <a:t>¿qué municipios sin McDonald's tienen el mismo perfil de mercado que los municipios donde la marca ya opera?</a:t>
            </a:r>
            <a:endParaRPr lang="en-US" sz="1800" dirty="0"/>
          </a:p>
        </p:txBody>
      </p:sp>
      <p:sp>
        <p:nvSpPr>
          <p:cNvPr id="15" name="Text 13"/>
          <p:cNvSpPr txBox="1"/>
          <p:nvPr/>
        </p:nvSpPr>
        <p:spPr>
          <a:xfrm>
            <a:off x="548640" y="6382512"/>
            <a:ext cx="10241280" cy="274320"/>
          </a:xfrm>
          <a:prstGeom prst="rect">
            <a:avLst/>
          </a:prstGeom>
          <a:noFill/>
          <a:ln/>
        </p:spPr>
        <p:txBody>
          <a:bodyPr wrap="square" lIns="0" tIns="0" rIns="0" bIns="0" rtlCol="0" anchor="ctr"/>
          <a:lstStyle/>
          <a:p>
            <a:pPr indent="0" marL="0">
              <a:buNone/>
            </a:pPr>
            <a:r>
              <a:rPr lang="en-US" sz="1100" dirty="0">
                <a:solidFill>
                  <a:srgbClr val="BFBFBF"/>
                </a:solidFill>
                <a:latin typeface="Arial" pitchFamily="34" charset="0"/>
                <a:ea typeface="Arial" pitchFamily="34" charset="-122"/>
                <a:cs typeface="Arial" pitchFamily="34" charset="-120"/>
              </a:rPr>
              <a:t>Fuentes: Expansión (14 de agosto de 2026); INEGI, DENUE 05/2026 y Censo de Población y Vivienda 2020.</a:t>
            </a:r>
            <a:endParaRPr lang="en-US" sz="1100" dirty="0"/>
          </a:p>
        </p:txBody>
      </p:sp>
      <p:sp>
        <p:nvSpPr>
          <p:cNvPr id="16" name="Shape 14"/>
          <p:cNvSpPr/>
          <p:nvPr/>
        </p:nvSpPr>
        <p:spPr>
          <a:xfrm>
            <a:off x="11292840" y="6309360"/>
            <a:ext cx="384048" cy="384048"/>
          </a:xfrm>
          <a:prstGeom prst="ellipse">
            <a:avLst/>
          </a:prstGeom>
          <a:solidFill>
            <a:srgbClr val="FFC72C"/>
          </a:solidFill>
          <a:ln w="12700">
            <a:solidFill>
              <a:srgbClr val="FFC72C"/>
            </a:solidFill>
            <a:prstDash val="solid"/>
          </a:ln>
        </p:spPr>
      </p:sp>
      <p:sp>
        <p:nvSpPr>
          <p:cNvPr id="17" name="Text 15"/>
          <p:cNvSpPr txBox="1"/>
          <p:nvPr/>
        </p:nvSpPr>
        <p:spPr>
          <a:xfrm>
            <a:off x="11292840" y="6309360"/>
            <a:ext cx="384048" cy="384048"/>
          </a:xfrm>
          <a:prstGeom prst="rect">
            <a:avLst/>
          </a:prstGeom>
          <a:noFill/>
          <a:ln/>
        </p:spPr>
        <p:txBody>
          <a:bodyPr wrap="square" lIns="0" tIns="0" rIns="0" bIns="0" rtlCol="0" anchor="ctr"/>
          <a:lstStyle/>
          <a:p>
            <a:pPr algn="ctr" indent="0" marL="0">
              <a:buNone/>
            </a:pPr>
            <a:r>
              <a:rPr lang="en-US" sz="1200" b="1" dirty="0">
                <a:solidFill>
                  <a:srgbClr val="1A1A1A"/>
                </a:solidFill>
                <a:latin typeface="Arial" pitchFamily="34" charset="0"/>
                <a:ea typeface="Arial" pitchFamily="34" charset="-122"/>
                <a:cs typeface="Arial" pitchFamily="34" charset="-120"/>
              </a:rPr>
              <a:t>1</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A1A1A"/>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548640"/>
          </a:xfrm>
          <a:prstGeom prst="rect">
            <a:avLst/>
          </a:prstGeom>
          <a:noFill/>
          <a:ln/>
        </p:spPr>
        <p:txBody>
          <a:bodyPr wrap="square" lIns="0" tIns="0" rIns="0" bIns="0" rtlCol="0" anchor="t"/>
          <a:lstStyle/>
          <a:p>
            <a:pPr indent="0" marL="0">
              <a:buNone/>
            </a:pPr>
            <a:r>
              <a:rPr lang="en-US" sz="2600" b="1" dirty="0">
                <a:solidFill>
                  <a:srgbClr val="FFFFFF"/>
                </a:solidFill>
                <a:latin typeface="Arial" pitchFamily="34" charset="0"/>
                <a:ea typeface="Arial" pitchFamily="34" charset="-122"/>
                <a:cs typeface="Arial" pitchFamily="34" charset="-120"/>
              </a:rPr>
              <a:t>Datos públicos y un modelo de clasificación</a:t>
            </a:r>
            <a:endParaRPr lang="en-US" sz="2600" dirty="0"/>
          </a:p>
        </p:txBody>
      </p:sp>
      <p:sp>
        <p:nvSpPr>
          <p:cNvPr id="3" name="Text 1"/>
          <p:cNvSpPr txBox="1"/>
          <p:nvPr/>
        </p:nvSpPr>
        <p:spPr>
          <a:xfrm>
            <a:off x="548640" y="987552"/>
            <a:ext cx="11094415" cy="411480"/>
          </a:xfrm>
          <a:prstGeom prst="rect">
            <a:avLst/>
          </a:prstGeom>
          <a:noFill/>
          <a:ln/>
        </p:spPr>
        <p:txBody>
          <a:bodyPr wrap="square" lIns="0" tIns="0" rIns="0" bIns="0" rtlCol="0" anchor="t"/>
          <a:lstStyle/>
          <a:p>
            <a:pPr indent="0" marL="0">
              <a:buNone/>
            </a:pPr>
            <a:r>
              <a:rPr lang="en-US" sz="1800" dirty="0">
                <a:solidFill>
                  <a:srgbClr val="FFC72C"/>
                </a:solidFill>
                <a:latin typeface="Arial" pitchFamily="34" charset="0"/>
                <a:ea typeface="Arial" pitchFamily="34" charset="-122"/>
                <a:cs typeface="Arial" pitchFamily="34" charset="-120"/>
              </a:rPr>
              <a:t>Del directorio de negocios a una tabla de 2,469 municipios</a:t>
            </a:r>
            <a:endParaRPr lang="en-US" sz="1800" dirty="0"/>
          </a:p>
        </p:txBody>
      </p:sp>
      <p:sp>
        <p:nvSpPr>
          <p:cNvPr id="4" name="Shape 2"/>
          <p:cNvSpPr/>
          <p:nvPr/>
        </p:nvSpPr>
        <p:spPr>
          <a:xfrm>
            <a:off x="548640" y="1783080"/>
            <a:ext cx="502920" cy="502920"/>
          </a:xfrm>
          <a:prstGeom prst="ellipse">
            <a:avLst/>
          </a:prstGeom>
          <a:solidFill>
            <a:srgbClr val="FFC72C"/>
          </a:solidFill>
          <a:ln w="12700">
            <a:solidFill>
              <a:srgbClr val="FFC72C"/>
            </a:solidFill>
            <a:prstDash val="solid"/>
          </a:ln>
        </p:spPr>
      </p:sp>
      <p:sp>
        <p:nvSpPr>
          <p:cNvPr id="5" name="Text 3"/>
          <p:cNvSpPr txBox="1"/>
          <p:nvPr/>
        </p:nvSpPr>
        <p:spPr>
          <a:xfrm>
            <a:off x="548640" y="1783080"/>
            <a:ext cx="502920" cy="502920"/>
          </a:xfrm>
          <a:prstGeom prst="rect">
            <a:avLst/>
          </a:prstGeom>
          <a:noFill/>
          <a:ln/>
        </p:spPr>
        <p:txBody>
          <a:bodyPr wrap="square" lIns="0" tIns="0" rIns="0" bIns="0" rtlCol="0" anchor="ctr"/>
          <a:lstStyle/>
          <a:p>
            <a:pPr algn="ctr" indent="0" marL="0">
              <a:buNone/>
            </a:pPr>
            <a:r>
              <a:rPr lang="en-US" sz="1800" b="1" dirty="0">
                <a:solidFill>
                  <a:srgbClr val="1A1A1A"/>
                </a:solidFill>
                <a:latin typeface="Arial" pitchFamily="34" charset="0"/>
                <a:ea typeface="Arial" pitchFamily="34" charset="-122"/>
                <a:cs typeface="Arial" pitchFamily="34" charset="-120"/>
              </a:rPr>
              <a:t>1</a:t>
            </a:r>
            <a:endParaRPr lang="en-US" sz="1800" dirty="0"/>
          </a:p>
        </p:txBody>
      </p:sp>
      <p:sp>
        <p:nvSpPr>
          <p:cNvPr id="6" name="Text 4"/>
          <p:cNvSpPr txBox="1"/>
          <p:nvPr/>
        </p:nvSpPr>
        <p:spPr>
          <a:xfrm>
            <a:off x="1280160" y="1737360"/>
            <a:ext cx="5074920" cy="777240"/>
          </a:xfrm>
          <a:prstGeom prst="rect">
            <a:avLst/>
          </a:prstGeom>
          <a:noFill/>
          <a:ln/>
        </p:spPr>
        <p:txBody>
          <a:bodyPr wrap="square" lIns="0" tIns="0" rIns="0" bIns="0" rtlCol="0" anchor="t"/>
          <a:lstStyle/>
          <a:p>
            <a:pPr indent="0" marL="0">
              <a:buNone/>
            </a:pPr>
            <a:r>
              <a:rPr lang="en-US" sz="1800" b="1" dirty="0">
                <a:solidFill>
                  <a:srgbClr val="FFFFFF"/>
                </a:solidFill>
                <a:latin typeface="Arial" pitchFamily="34" charset="0"/>
                <a:ea typeface="Arial" pitchFamily="34" charset="-122"/>
                <a:cs typeface="Arial" pitchFamily="34" charset="-120"/>
              </a:rPr>
              <a:t>Datos. </a:t>
            </a:r>
            <a:pPr indent="0" marL="0">
              <a:buNone/>
            </a:pPr>
            <a:r>
              <a:rPr lang="en-US" sz="1800" dirty="0">
                <a:solidFill>
                  <a:srgbClr val="FFFFFF"/>
                </a:solidFill>
                <a:latin typeface="Arial" pitchFamily="34" charset="0"/>
                <a:ea typeface="Arial" pitchFamily="34" charset="-122"/>
                <a:cs typeface="Arial" pitchFamily="34" charset="-120"/>
              </a:rPr>
              <a:t>DENUE 05/2026 (806,496 negocios) y Censo 2020.</a:t>
            </a:r>
            <a:endParaRPr lang="en-US" sz="1800" dirty="0"/>
          </a:p>
        </p:txBody>
      </p:sp>
      <p:sp>
        <p:nvSpPr>
          <p:cNvPr id="7" name="Shape 5"/>
          <p:cNvSpPr/>
          <p:nvPr/>
        </p:nvSpPr>
        <p:spPr>
          <a:xfrm>
            <a:off x="548640" y="2670048"/>
            <a:ext cx="502920" cy="502920"/>
          </a:xfrm>
          <a:prstGeom prst="ellipse">
            <a:avLst/>
          </a:prstGeom>
          <a:solidFill>
            <a:srgbClr val="FFC72C"/>
          </a:solidFill>
          <a:ln w="12700">
            <a:solidFill>
              <a:srgbClr val="FFC72C"/>
            </a:solidFill>
            <a:prstDash val="solid"/>
          </a:ln>
        </p:spPr>
      </p:sp>
      <p:sp>
        <p:nvSpPr>
          <p:cNvPr id="8" name="Text 6"/>
          <p:cNvSpPr txBox="1"/>
          <p:nvPr/>
        </p:nvSpPr>
        <p:spPr>
          <a:xfrm>
            <a:off x="548640" y="2670048"/>
            <a:ext cx="502920" cy="502920"/>
          </a:xfrm>
          <a:prstGeom prst="rect">
            <a:avLst/>
          </a:prstGeom>
          <a:noFill/>
          <a:ln/>
        </p:spPr>
        <p:txBody>
          <a:bodyPr wrap="square" lIns="0" tIns="0" rIns="0" bIns="0" rtlCol="0" anchor="ctr"/>
          <a:lstStyle/>
          <a:p>
            <a:pPr algn="ctr" indent="0" marL="0">
              <a:buNone/>
            </a:pPr>
            <a:r>
              <a:rPr lang="en-US" sz="1800" b="1" dirty="0">
                <a:solidFill>
                  <a:srgbClr val="1A1A1A"/>
                </a:solidFill>
                <a:latin typeface="Arial" pitchFamily="34" charset="0"/>
                <a:ea typeface="Arial" pitchFamily="34" charset="-122"/>
                <a:cs typeface="Arial" pitchFamily="34" charset="-120"/>
              </a:rPr>
              <a:t>2</a:t>
            </a:r>
            <a:endParaRPr lang="en-US" sz="1800" dirty="0"/>
          </a:p>
        </p:txBody>
      </p:sp>
      <p:sp>
        <p:nvSpPr>
          <p:cNvPr id="9" name="Text 7"/>
          <p:cNvSpPr txBox="1"/>
          <p:nvPr/>
        </p:nvSpPr>
        <p:spPr>
          <a:xfrm>
            <a:off x="1280160" y="2624328"/>
            <a:ext cx="5074920" cy="777240"/>
          </a:xfrm>
          <a:prstGeom prst="rect">
            <a:avLst/>
          </a:prstGeom>
          <a:noFill/>
          <a:ln/>
        </p:spPr>
        <p:txBody>
          <a:bodyPr wrap="square" lIns="0" tIns="0" rIns="0" bIns="0" rtlCol="0" anchor="t"/>
          <a:lstStyle/>
          <a:p>
            <a:pPr indent="0" marL="0">
              <a:buNone/>
            </a:pPr>
            <a:r>
              <a:rPr lang="en-US" sz="1800" b="1" dirty="0">
                <a:solidFill>
                  <a:srgbClr val="FFFFFF"/>
                </a:solidFill>
                <a:latin typeface="Arial" pitchFamily="34" charset="0"/>
                <a:ea typeface="Arial" pitchFamily="34" charset="-122"/>
                <a:cs typeface="Arial" pitchFamily="34" charset="-120"/>
              </a:rPr>
              <a:t>Limpieza. </a:t>
            </a:r>
            <a:pPr indent="0" marL="0">
              <a:buNone/>
            </a:pPr>
            <a:r>
              <a:rPr lang="en-US" sz="1800" dirty="0">
                <a:solidFill>
                  <a:srgbClr val="FFFFFF"/>
                </a:solidFill>
                <a:latin typeface="Arial" pitchFamily="34" charset="0"/>
                <a:ea typeface="Arial" pitchFamily="34" charset="-122"/>
                <a:cs typeface="Arial" pitchFamily="34" charset="-120"/>
              </a:rPr>
              <a:t>417 sucursales en 123 municipios y 8 cadenas rivales.</a:t>
            </a:r>
            <a:endParaRPr lang="en-US" sz="1800" dirty="0"/>
          </a:p>
        </p:txBody>
      </p:sp>
      <p:sp>
        <p:nvSpPr>
          <p:cNvPr id="10" name="Shape 8"/>
          <p:cNvSpPr/>
          <p:nvPr/>
        </p:nvSpPr>
        <p:spPr>
          <a:xfrm>
            <a:off x="548640" y="3557016"/>
            <a:ext cx="502920" cy="502920"/>
          </a:xfrm>
          <a:prstGeom prst="ellipse">
            <a:avLst/>
          </a:prstGeom>
          <a:solidFill>
            <a:srgbClr val="FFC72C"/>
          </a:solidFill>
          <a:ln w="12700">
            <a:solidFill>
              <a:srgbClr val="FFC72C"/>
            </a:solidFill>
            <a:prstDash val="solid"/>
          </a:ln>
        </p:spPr>
      </p:sp>
      <p:sp>
        <p:nvSpPr>
          <p:cNvPr id="11" name="Text 9"/>
          <p:cNvSpPr txBox="1"/>
          <p:nvPr/>
        </p:nvSpPr>
        <p:spPr>
          <a:xfrm>
            <a:off x="548640" y="3557016"/>
            <a:ext cx="502920" cy="502920"/>
          </a:xfrm>
          <a:prstGeom prst="rect">
            <a:avLst/>
          </a:prstGeom>
          <a:noFill/>
          <a:ln/>
        </p:spPr>
        <p:txBody>
          <a:bodyPr wrap="square" lIns="0" tIns="0" rIns="0" bIns="0" rtlCol="0" anchor="ctr"/>
          <a:lstStyle/>
          <a:p>
            <a:pPr algn="ctr" indent="0" marL="0">
              <a:buNone/>
            </a:pPr>
            <a:r>
              <a:rPr lang="en-US" sz="1800" b="1" dirty="0">
                <a:solidFill>
                  <a:srgbClr val="1A1A1A"/>
                </a:solidFill>
                <a:latin typeface="Arial" pitchFamily="34" charset="0"/>
                <a:ea typeface="Arial" pitchFamily="34" charset="-122"/>
                <a:cs typeface="Arial" pitchFamily="34" charset="-120"/>
              </a:rPr>
              <a:t>3</a:t>
            </a:r>
            <a:endParaRPr lang="en-US" sz="1800" dirty="0"/>
          </a:p>
        </p:txBody>
      </p:sp>
      <p:sp>
        <p:nvSpPr>
          <p:cNvPr id="12" name="Text 10"/>
          <p:cNvSpPr txBox="1"/>
          <p:nvPr/>
        </p:nvSpPr>
        <p:spPr>
          <a:xfrm>
            <a:off x="1280160" y="3511296"/>
            <a:ext cx="5074920" cy="777240"/>
          </a:xfrm>
          <a:prstGeom prst="rect">
            <a:avLst/>
          </a:prstGeom>
          <a:noFill/>
          <a:ln/>
        </p:spPr>
        <p:txBody>
          <a:bodyPr wrap="square" lIns="0" tIns="0" rIns="0" bIns="0" rtlCol="0" anchor="t"/>
          <a:lstStyle/>
          <a:p>
            <a:pPr indent="0" marL="0">
              <a:buNone/>
            </a:pPr>
            <a:r>
              <a:rPr lang="en-US" sz="1800" b="1" dirty="0">
                <a:solidFill>
                  <a:srgbClr val="FFFFFF"/>
                </a:solidFill>
                <a:latin typeface="Arial" pitchFamily="34" charset="0"/>
                <a:ea typeface="Arial" pitchFamily="34" charset="-122"/>
                <a:cs typeface="Arial" pitchFamily="34" charset="-120"/>
              </a:rPr>
              <a:t>Variables. </a:t>
            </a:r>
            <a:pPr indent="0" marL="0">
              <a:buNone/>
            </a:pPr>
            <a:r>
              <a:rPr lang="en-US" sz="1800" dirty="0">
                <a:solidFill>
                  <a:srgbClr val="FFFFFF"/>
                </a:solidFill>
                <a:latin typeface="Arial" pitchFamily="34" charset="0"/>
                <a:ea typeface="Arial" pitchFamily="34" charset="-122"/>
                <a:cs typeface="Arial" pitchFamily="34" charset="-120"/>
              </a:rPr>
              <a:t>15 en 5 bloques: demanda, poder adquisitivo, empleo, sector y competencia.</a:t>
            </a:r>
            <a:endParaRPr lang="en-US" sz="1800" dirty="0"/>
          </a:p>
        </p:txBody>
      </p:sp>
      <p:sp>
        <p:nvSpPr>
          <p:cNvPr id="13" name="Shape 11"/>
          <p:cNvSpPr/>
          <p:nvPr/>
        </p:nvSpPr>
        <p:spPr>
          <a:xfrm>
            <a:off x="548640" y="4443984"/>
            <a:ext cx="502920" cy="502920"/>
          </a:xfrm>
          <a:prstGeom prst="ellipse">
            <a:avLst/>
          </a:prstGeom>
          <a:solidFill>
            <a:srgbClr val="FFC72C"/>
          </a:solidFill>
          <a:ln w="12700">
            <a:solidFill>
              <a:srgbClr val="FFC72C"/>
            </a:solidFill>
            <a:prstDash val="solid"/>
          </a:ln>
        </p:spPr>
      </p:sp>
      <p:sp>
        <p:nvSpPr>
          <p:cNvPr id="14" name="Text 12"/>
          <p:cNvSpPr txBox="1"/>
          <p:nvPr/>
        </p:nvSpPr>
        <p:spPr>
          <a:xfrm>
            <a:off x="548640" y="4443984"/>
            <a:ext cx="502920" cy="502920"/>
          </a:xfrm>
          <a:prstGeom prst="rect">
            <a:avLst/>
          </a:prstGeom>
          <a:noFill/>
          <a:ln/>
        </p:spPr>
        <p:txBody>
          <a:bodyPr wrap="square" lIns="0" tIns="0" rIns="0" bIns="0" rtlCol="0" anchor="ctr"/>
          <a:lstStyle/>
          <a:p>
            <a:pPr algn="ctr" indent="0" marL="0">
              <a:buNone/>
            </a:pPr>
            <a:r>
              <a:rPr lang="en-US" sz="1800" b="1" dirty="0">
                <a:solidFill>
                  <a:srgbClr val="1A1A1A"/>
                </a:solidFill>
                <a:latin typeface="Arial" pitchFamily="34" charset="0"/>
                <a:ea typeface="Arial" pitchFamily="34" charset="-122"/>
                <a:cs typeface="Arial" pitchFamily="34" charset="-120"/>
              </a:rPr>
              <a:t>4</a:t>
            </a:r>
            <a:endParaRPr lang="en-US" sz="1800" dirty="0"/>
          </a:p>
        </p:txBody>
      </p:sp>
      <p:sp>
        <p:nvSpPr>
          <p:cNvPr id="15" name="Text 13"/>
          <p:cNvSpPr txBox="1"/>
          <p:nvPr/>
        </p:nvSpPr>
        <p:spPr>
          <a:xfrm>
            <a:off x="1280160" y="4398264"/>
            <a:ext cx="5074920" cy="777240"/>
          </a:xfrm>
          <a:prstGeom prst="rect">
            <a:avLst/>
          </a:prstGeom>
          <a:noFill/>
          <a:ln/>
        </p:spPr>
        <p:txBody>
          <a:bodyPr wrap="square" lIns="0" tIns="0" rIns="0" bIns="0" rtlCol="0" anchor="t"/>
          <a:lstStyle/>
          <a:p>
            <a:pPr indent="0" marL="0">
              <a:buNone/>
            </a:pPr>
            <a:r>
              <a:rPr lang="en-US" sz="1800" b="1" dirty="0">
                <a:solidFill>
                  <a:srgbClr val="FFFFFF"/>
                </a:solidFill>
                <a:latin typeface="Arial" pitchFamily="34" charset="0"/>
                <a:ea typeface="Arial" pitchFamily="34" charset="-122"/>
                <a:cs typeface="Arial" pitchFamily="34" charset="-120"/>
              </a:rPr>
              <a:t>Modelos. </a:t>
            </a:r>
            <a:pPr indent="0" marL="0">
              <a:buNone/>
            </a:pPr>
            <a:r>
              <a:rPr lang="en-US" sz="1800" dirty="0">
                <a:solidFill>
                  <a:srgbClr val="FFFFFF"/>
                </a:solidFill>
                <a:latin typeface="Arial" pitchFamily="34" charset="0"/>
                <a:ea typeface="Arial" pitchFamily="34" charset="-122"/>
                <a:cs typeface="Arial" pitchFamily="34" charset="-120"/>
              </a:rPr>
              <a:t>Árbol de decisión, Naive Bayes y random forest; 70 % entrenamiento, 30 % prueba.</a:t>
            </a:r>
            <a:endParaRPr lang="en-US" sz="1800" dirty="0"/>
          </a:p>
        </p:txBody>
      </p:sp>
      <p:sp>
        <p:nvSpPr>
          <p:cNvPr id="16" name="Shape 14"/>
          <p:cNvSpPr/>
          <p:nvPr/>
        </p:nvSpPr>
        <p:spPr>
          <a:xfrm>
            <a:off x="548640" y="5330952"/>
            <a:ext cx="502920" cy="502920"/>
          </a:xfrm>
          <a:prstGeom prst="ellipse">
            <a:avLst/>
          </a:prstGeom>
          <a:solidFill>
            <a:srgbClr val="FFC72C"/>
          </a:solidFill>
          <a:ln w="12700">
            <a:solidFill>
              <a:srgbClr val="FFC72C"/>
            </a:solidFill>
            <a:prstDash val="solid"/>
          </a:ln>
        </p:spPr>
      </p:sp>
      <p:sp>
        <p:nvSpPr>
          <p:cNvPr id="17" name="Text 15"/>
          <p:cNvSpPr txBox="1"/>
          <p:nvPr/>
        </p:nvSpPr>
        <p:spPr>
          <a:xfrm>
            <a:off x="548640" y="5330952"/>
            <a:ext cx="502920" cy="502920"/>
          </a:xfrm>
          <a:prstGeom prst="rect">
            <a:avLst/>
          </a:prstGeom>
          <a:noFill/>
          <a:ln/>
        </p:spPr>
        <p:txBody>
          <a:bodyPr wrap="square" lIns="0" tIns="0" rIns="0" bIns="0" rtlCol="0" anchor="ctr"/>
          <a:lstStyle/>
          <a:p>
            <a:pPr algn="ctr" indent="0" marL="0">
              <a:buNone/>
            </a:pPr>
            <a:r>
              <a:rPr lang="en-US" sz="1800" b="1" dirty="0">
                <a:solidFill>
                  <a:srgbClr val="1A1A1A"/>
                </a:solidFill>
                <a:latin typeface="Arial" pitchFamily="34" charset="0"/>
                <a:ea typeface="Arial" pitchFamily="34" charset="-122"/>
                <a:cs typeface="Arial" pitchFamily="34" charset="-120"/>
              </a:rPr>
              <a:t>5</a:t>
            </a:r>
            <a:endParaRPr lang="en-US" sz="1800" dirty="0"/>
          </a:p>
        </p:txBody>
      </p:sp>
      <p:sp>
        <p:nvSpPr>
          <p:cNvPr id="18" name="Text 16"/>
          <p:cNvSpPr txBox="1"/>
          <p:nvPr/>
        </p:nvSpPr>
        <p:spPr>
          <a:xfrm>
            <a:off x="1280160" y="5285232"/>
            <a:ext cx="5074920" cy="777240"/>
          </a:xfrm>
          <a:prstGeom prst="rect">
            <a:avLst/>
          </a:prstGeom>
          <a:noFill/>
          <a:ln/>
        </p:spPr>
        <p:txBody>
          <a:bodyPr wrap="square" lIns="0" tIns="0" rIns="0" bIns="0" rtlCol="0" anchor="t"/>
          <a:lstStyle/>
          <a:p>
            <a:pPr indent="0" marL="0">
              <a:buNone/>
            </a:pPr>
            <a:r>
              <a:rPr lang="en-US" sz="1800" b="1" dirty="0">
                <a:solidFill>
                  <a:srgbClr val="FFFFFF"/>
                </a:solidFill>
                <a:latin typeface="Arial" pitchFamily="34" charset="0"/>
                <a:ea typeface="Arial" pitchFamily="34" charset="-122"/>
                <a:cs typeface="Arial" pitchFamily="34" charset="-120"/>
              </a:rPr>
              <a:t>Validación. </a:t>
            </a:r>
            <a:pPr indent="0" marL="0">
              <a:buNone/>
            </a:pPr>
            <a:r>
              <a:rPr lang="en-US" sz="1800" dirty="0">
                <a:solidFill>
                  <a:srgbClr val="FFFFFF"/>
                </a:solidFill>
                <a:latin typeface="Arial" pitchFamily="34" charset="0"/>
                <a:ea typeface="Arial" pitchFamily="34" charset="-122"/>
                <a:cs typeface="Arial" pitchFamily="34" charset="-120"/>
              </a:rPr>
              <a:t>Los 20 mejores candidatos, contra el sitio oficial de la marca.</a:t>
            </a:r>
            <a:endParaRPr lang="en-US" sz="1800" dirty="0"/>
          </a:p>
        </p:txBody>
      </p:sp>
      <p:sp>
        <p:nvSpPr>
          <p:cNvPr id="19" name="Shape 17"/>
          <p:cNvSpPr/>
          <p:nvPr/>
        </p:nvSpPr>
        <p:spPr>
          <a:xfrm>
            <a:off x="6673852" y="1673352"/>
            <a:ext cx="4969203" cy="4562856"/>
          </a:xfrm>
          <a:prstGeom prst="roundRect">
            <a:avLst>
              <a:gd name="adj" fmla="val 2405"/>
            </a:avLst>
          </a:prstGeom>
          <a:solidFill>
            <a:srgbClr val="FFFFFF"/>
          </a:solidFill>
          <a:ln w="31750">
            <a:solidFill>
              <a:srgbClr val="FFC72C"/>
            </a:solidFill>
            <a:prstDash val="solid"/>
          </a:ln>
        </p:spPr>
      </p:sp>
      <p:pic>
        <p:nvPicPr>
          <p:cNvPr id="20" name="Image 0" descr="Sucursales de McDonald's por entidad federativa según el DENUE de mayo de 2026">    </p:cNvPr>
          <p:cNvPicPr>
            <a:picLocks noChangeAspect="1"/>
          </p:cNvPicPr>
          <p:nvPr/>
        </p:nvPicPr>
        <p:blipFill>
          <a:blip r:embed="rId1"/>
          <a:stretch>
            <a:fillRect/>
          </a:stretch>
        </p:blipFill>
        <p:spPr>
          <a:xfrm>
            <a:off x="6783580" y="1783080"/>
            <a:ext cx="4749747" cy="4343400"/>
          </a:xfrm>
          <a:prstGeom prst="rect">
            <a:avLst/>
          </a:prstGeom>
        </p:spPr>
      </p:pic>
      <p:sp>
        <p:nvSpPr>
          <p:cNvPr id="21" name="Text 18"/>
          <p:cNvSpPr txBox="1"/>
          <p:nvPr/>
        </p:nvSpPr>
        <p:spPr>
          <a:xfrm>
            <a:off x="548640" y="6382512"/>
            <a:ext cx="10241280" cy="274320"/>
          </a:xfrm>
          <a:prstGeom prst="rect">
            <a:avLst/>
          </a:prstGeom>
          <a:noFill/>
          <a:ln/>
        </p:spPr>
        <p:txBody>
          <a:bodyPr wrap="square" lIns="0" tIns="0" rIns="0" bIns="0" rtlCol="0" anchor="ctr"/>
          <a:lstStyle/>
          <a:p>
            <a:pPr indent="0" marL="0">
              <a:buNone/>
            </a:pPr>
            <a:r>
              <a:rPr lang="en-US" sz="1100" dirty="0">
                <a:solidFill>
                  <a:srgbClr val="BFBFBF"/>
                </a:solidFill>
                <a:latin typeface="Arial" pitchFamily="34" charset="0"/>
                <a:ea typeface="Arial" pitchFamily="34" charset="-122"/>
                <a:cs typeface="Arial" pitchFamily="34" charset="-120"/>
              </a:rPr>
              <a:t>Fuente: INEGI, DENUE 05/2026 y Censo 2020. Detalle del proceso ETL en la sección 2 del notebook.</a:t>
            </a:r>
            <a:endParaRPr lang="en-US" sz="1100" dirty="0"/>
          </a:p>
        </p:txBody>
      </p:sp>
      <p:sp>
        <p:nvSpPr>
          <p:cNvPr id="22" name="Shape 19"/>
          <p:cNvSpPr/>
          <p:nvPr/>
        </p:nvSpPr>
        <p:spPr>
          <a:xfrm>
            <a:off x="11292840" y="6309360"/>
            <a:ext cx="384048" cy="384048"/>
          </a:xfrm>
          <a:prstGeom prst="ellipse">
            <a:avLst/>
          </a:prstGeom>
          <a:solidFill>
            <a:srgbClr val="FFC72C"/>
          </a:solidFill>
          <a:ln w="12700">
            <a:solidFill>
              <a:srgbClr val="FFC72C"/>
            </a:solidFill>
            <a:prstDash val="solid"/>
          </a:ln>
        </p:spPr>
      </p:sp>
      <p:sp>
        <p:nvSpPr>
          <p:cNvPr id="23" name="Text 20"/>
          <p:cNvSpPr txBox="1"/>
          <p:nvPr/>
        </p:nvSpPr>
        <p:spPr>
          <a:xfrm>
            <a:off x="11292840" y="6309360"/>
            <a:ext cx="384048" cy="384048"/>
          </a:xfrm>
          <a:prstGeom prst="rect">
            <a:avLst/>
          </a:prstGeom>
          <a:noFill/>
          <a:ln/>
        </p:spPr>
        <p:txBody>
          <a:bodyPr wrap="square" lIns="0" tIns="0" rIns="0" bIns="0" rtlCol="0" anchor="ctr"/>
          <a:lstStyle/>
          <a:p>
            <a:pPr algn="ctr" indent="0" marL="0">
              <a:buNone/>
            </a:pPr>
            <a:r>
              <a:rPr lang="en-US" sz="1200" b="1" dirty="0">
                <a:solidFill>
                  <a:srgbClr val="1A1A1A"/>
                </a:solidFill>
                <a:latin typeface="Arial" pitchFamily="34" charset="0"/>
                <a:ea typeface="Arial" pitchFamily="34" charset="-122"/>
                <a:cs typeface="Arial"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1A1A"/>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548640"/>
          </a:xfrm>
          <a:prstGeom prst="rect">
            <a:avLst/>
          </a:prstGeom>
          <a:noFill/>
          <a:ln/>
        </p:spPr>
        <p:txBody>
          <a:bodyPr wrap="square" lIns="0" tIns="0" rIns="0" bIns="0" rtlCol="0" anchor="t"/>
          <a:lstStyle/>
          <a:p>
            <a:pPr indent="0" marL="0">
              <a:buNone/>
            </a:pPr>
            <a:r>
              <a:rPr lang="en-US" sz="2600" b="1" dirty="0">
                <a:solidFill>
                  <a:srgbClr val="FFFFFF"/>
                </a:solidFill>
                <a:latin typeface="Arial" pitchFamily="34" charset="0"/>
                <a:ea typeface="Arial" pitchFamily="34" charset="-122"/>
                <a:cs typeface="Arial" pitchFamily="34" charset="-120"/>
              </a:rPr>
              <a:t>Qué distingue a un municipio con McDonald's</a:t>
            </a:r>
            <a:endParaRPr lang="en-US" sz="2600" dirty="0"/>
          </a:p>
        </p:txBody>
      </p:sp>
      <p:sp>
        <p:nvSpPr>
          <p:cNvPr id="3" name="Text 1"/>
          <p:cNvSpPr txBox="1"/>
          <p:nvPr/>
        </p:nvSpPr>
        <p:spPr>
          <a:xfrm>
            <a:off x="548640" y="987552"/>
            <a:ext cx="11094415" cy="411480"/>
          </a:xfrm>
          <a:prstGeom prst="rect">
            <a:avLst/>
          </a:prstGeom>
          <a:noFill/>
          <a:ln/>
        </p:spPr>
        <p:txBody>
          <a:bodyPr wrap="square" lIns="0" tIns="0" rIns="0" bIns="0" rtlCol="0" anchor="t"/>
          <a:lstStyle/>
          <a:p>
            <a:pPr indent="0" marL="0">
              <a:buNone/>
            </a:pPr>
            <a:r>
              <a:rPr lang="en-US" sz="1800" dirty="0">
                <a:solidFill>
                  <a:srgbClr val="FFC72C"/>
                </a:solidFill>
                <a:latin typeface="Arial" pitchFamily="34" charset="0"/>
                <a:ea typeface="Arial" pitchFamily="34" charset="-122"/>
                <a:cs typeface="Arial" pitchFamily="34" charset="-120"/>
              </a:rPr>
              <a:t>Medianas de los 123 municipios con sucursal frente a los 2,346 sin sucursal</a:t>
            </a:r>
            <a:endParaRPr lang="en-US" sz="1800" dirty="0"/>
          </a:p>
        </p:txBody>
      </p:sp>
      <p:sp>
        <p:nvSpPr>
          <p:cNvPr id="4" name="Shape 2"/>
          <p:cNvSpPr/>
          <p:nvPr/>
        </p:nvSpPr>
        <p:spPr>
          <a:xfrm>
            <a:off x="548640" y="1691640"/>
            <a:ext cx="5212080" cy="1143000"/>
          </a:xfrm>
          <a:prstGeom prst="roundRect">
            <a:avLst>
              <a:gd name="adj" fmla="val 12000"/>
            </a:avLst>
          </a:prstGeom>
          <a:solidFill>
            <a:srgbClr val="2B2B2B"/>
          </a:solidFill>
          <a:ln w="12700">
            <a:solidFill>
              <a:srgbClr val="2B2B2B"/>
            </a:solidFill>
            <a:prstDash val="solid"/>
          </a:ln>
        </p:spPr>
      </p:sp>
      <p:sp>
        <p:nvSpPr>
          <p:cNvPr id="5" name="Text 3"/>
          <p:cNvSpPr txBox="1"/>
          <p:nvPr/>
        </p:nvSpPr>
        <p:spPr>
          <a:xfrm>
            <a:off x="822960" y="1801368"/>
            <a:ext cx="4754880" cy="548640"/>
          </a:xfrm>
          <a:prstGeom prst="rect">
            <a:avLst/>
          </a:prstGeom>
          <a:noFill/>
          <a:ln/>
        </p:spPr>
        <p:txBody>
          <a:bodyPr wrap="square" lIns="0" tIns="0" rIns="0" bIns="0" rtlCol="0" anchor="ctr"/>
          <a:lstStyle/>
          <a:p>
            <a:pPr indent="0" marL="0">
              <a:buNone/>
            </a:pPr>
            <a:r>
              <a:rPr lang="en-US" sz="3400" b="1" dirty="0">
                <a:solidFill>
                  <a:srgbClr val="FFC72C"/>
                </a:solidFill>
                <a:latin typeface="Arial" pitchFamily="34" charset="0"/>
                <a:ea typeface="Arial" pitchFamily="34" charset="-122"/>
                <a:cs typeface="Arial" pitchFamily="34" charset="-120"/>
              </a:rPr>
              <a:t>378 mil vs. 12 mil</a:t>
            </a:r>
            <a:endParaRPr lang="en-US" sz="3400" dirty="0"/>
          </a:p>
        </p:txBody>
      </p:sp>
      <p:sp>
        <p:nvSpPr>
          <p:cNvPr id="6" name="Text 4"/>
          <p:cNvSpPr txBox="1"/>
          <p:nvPr/>
        </p:nvSpPr>
        <p:spPr>
          <a:xfrm>
            <a:off x="822960" y="2350008"/>
            <a:ext cx="4754880" cy="365760"/>
          </a:xfrm>
          <a:prstGeom prst="rect">
            <a:avLst/>
          </a:prstGeom>
          <a:noFill/>
          <a:ln/>
        </p:spPr>
        <p:txBody>
          <a:bodyPr wrap="square" lIns="0" tIns="0" rIns="0" bIns="0" rtlCol="0" anchor="ctr"/>
          <a:lstStyle/>
          <a:p>
            <a:pPr indent="0" marL="0">
              <a:buNone/>
            </a:pPr>
            <a:r>
              <a:rPr lang="en-US" sz="1800" dirty="0">
                <a:solidFill>
                  <a:srgbClr val="FFFFFF"/>
                </a:solidFill>
                <a:latin typeface="Arial" pitchFamily="34" charset="0"/>
                <a:ea typeface="Arial" pitchFamily="34" charset="-122"/>
                <a:cs typeface="Arial" pitchFamily="34" charset="-120"/>
              </a:rPr>
              <a:t>habitantes</a:t>
            </a:r>
            <a:endParaRPr lang="en-US" sz="1800" dirty="0"/>
          </a:p>
        </p:txBody>
      </p:sp>
      <p:sp>
        <p:nvSpPr>
          <p:cNvPr id="7" name="Shape 5"/>
          <p:cNvSpPr/>
          <p:nvPr/>
        </p:nvSpPr>
        <p:spPr>
          <a:xfrm>
            <a:off x="548640" y="3017520"/>
            <a:ext cx="5212080" cy="1143000"/>
          </a:xfrm>
          <a:prstGeom prst="roundRect">
            <a:avLst>
              <a:gd name="adj" fmla="val 12000"/>
            </a:avLst>
          </a:prstGeom>
          <a:solidFill>
            <a:srgbClr val="2B2B2B"/>
          </a:solidFill>
          <a:ln w="12700">
            <a:solidFill>
              <a:srgbClr val="2B2B2B"/>
            </a:solidFill>
            <a:prstDash val="solid"/>
          </a:ln>
        </p:spPr>
      </p:sp>
      <p:sp>
        <p:nvSpPr>
          <p:cNvPr id="8" name="Text 6"/>
          <p:cNvSpPr txBox="1"/>
          <p:nvPr/>
        </p:nvSpPr>
        <p:spPr>
          <a:xfrm>
            <a:off x="822960" y="3127248"/>
            <a:ext cx="4754880" cy="548640"/>
          </a:xfrm>
          <a:prstGeom prst="rect">
            <a:avLst/>
          </a:prstGeom>
          <a:noFill/>
          <a:ln/>
        </p:spPr>
        <p:txBody>
          <a:bodyPr wrap="square" lIns="0" tIns="0" rIns="0" bIns="0" rtlCol="0" anchor="ctr"/>
          <a:lstStyle/>
          <a:p>
            <a:pPr indent="0" marL="0">
              <a:buNone/>
            </a:pPr>
            <a:r>
              <a:rPr lang="en-US" sz="3400" b="1" dirty="0">
                <a:solidFill>
                  <a:srgbClr val="FFC72C"/>
                </a:solidFill>
                <a:latin typeface="Arial" pitchFamily="34" charset="0"/>
                <a:ea typeface="Arial" pitchFamily="34" charset="-122"/>
                <a:cs typeface="Arial" pitchFamily="34" charset="-120"/>
              </a:rPr>
              <a:t>7 vs. 0</a:t>
            </a:r>
            <a:endParaRPr lang="en-US" sz="3400" dirty="0"/>
          </a:p>
        </p:txBody>
      </p:sp>
      <p:sp>
        <p:nvSpPr>
          <p:cNvPr id="9" name="Text 7"/>
          <p:cNvSpPr txBox="1"/>
          <p:nvPr/>
        </p:nvSpPr>
        <p:spPr>
          <a:xfrm>
            <a:off x="822960" y="3675888"/>
            <a:ext cx="4754880" cy="365760"/>
          </a:xfrm>
          <a:prstGeom prst="rect">
            <a:avLst/>
          </a:prstGeom>
          <a:noFill/>
          <a:ln/>
        </p:spPr>
        <p:txBody>
          <a:bodyPr wrap="square" lIns="0" tIns="0" rIns="0" bIns="0" rtlCol="0" anchor="ctr"/>
          <a:lstStyle/>
          <a:p>
            <a:pPr indent="0" marL="0">
              <a:buNone/>
            </a:pPr>
            <a:r>
              <a:rPr lang="en-US" sz="1800" dirty="0">
                <a:solidFill>
                  <a:srgbClr val="FFFFFF"/>
                </a:solidFill>
                <a:latin typeface="Arial" pitchFamily="34" charset="0"/>
                <a:ea typeface="Arial" pitchFamily="34" charset="-122"/>
                <a:cs typeface="Arial" pitchFamily="34" charset="-120"/>
              </a:rPr>
              <a:t>cadenas rivales presentes (de 8)</a:t>
            </a:r>
            <a:endParaRPr lang="en-US" sz="1800" dirty="0"/>
          </a:p>
        </p:txBody>
      </p:sp>
      <p:sp>
        <p:nvSpPr>
          <p:cNvPr id="10" name="Shape 8"/>
          <p:cNvSpPr/>
          <p:nvPr/>
        </p:nvSpPr>
        <p:spPr>
          <a:xfrm>
            <a:off x="548640" y="4389120"/>
            <a:ext cx="5212080" cy="1783080"/>
          </a:xfrm>
          <a:prstGeom prst="roundRect">
            <a:avLst>
              <a:gd name="adj" fmla="val 7692"/>
            </a:avLst>
          </a:prstGeom>
          <a:solidFill>
            <a:srgbClr val="FFC72C"/>
          </a:solidFill>
          <a:ln w="12700">
            <a:solidFill>
              <a:srgbClr val="FFC72C"/>
            </a:solidFill>
            <a:prstDash val="solid"/>
          </a:ln>
        </p:spPr>
      </p:sp>
      <p:sp>
        <p:nvSpPr>
          <p:cNvPr id="11" name="Text 9"/>
          <p:cNvSpPr txBox="1"/>
          <p:nvPr/>
        </p:nvSpPr>
        <p:spPr>
          <a:xfrm>
            <a:off x="777240" y="4389120"/>
            <a:ext cx="4754880" cy="1783080"/>
          </a:xfrm>
          <a:prstGeom prst="rect">
            <a:avLst/>
          </a:prstGeom>
          <a:noFill/>
          <a:ln/>
        </p:spPr>
        <p:txBody>
          <a:bodyPr wrap="square" lIns="0" tIns="0" rIns="0" bIns="0" rtlCol="0" anchor="ctr"/>
          <a:lstStyle/>
          <a:p>
            <a:pPr indent="0" marL="0">
              <a:buNone/>
            </a:pPr>
            <a:r>
              <a:rPr lang="en-US" sz="1700" b="1" dirty="0">
                <a:solidFill>
                  <a:srgbClr val="1A1A1A"/>
                </a:solidFill>
                <a:latin typeface="Arial" pitchFamily="34" charset="0"/>
                <a:ea typeface="Arial" pitchFamily="34" charset="-122"/>
                <a:cs typeface="Arial" pitchFamily="34" charset="-120"/>
              </a:rPr>
              <a:t>Perfil completo: </a:t>
            </a:r>
            <a:pPr indent="0" marL="0">
              <a:buNone/>
            </a:pPr>
            <a:r>
              <a:rPr lang="en-US" sz="1700" dirty="0">
                <a:solidFill>
                  <a:srgbClr val="1A1A1A"/>
                </a:solidFill>
                <a:latin typeface="Arial" pitchFamily="34" charset="0"/>
                <a:ea typeface="Arial" pitchFamily="34" charset="-122"/>
                <a:cs typeface="Arial" pitchFamily="34" charset="-120"/>
              </a:rPr>
              <a:t>más de 125 mil habitantes, 3 o más cadenas rivales, internet en más del 46 % de las viviendas y empleo restaurantero alto. Los 45 municipios de entrenamiento con ese perfil tienen McDonald's.</a:t>
            </a:r>
            <a:endParaRPr lang="en-US" sz="1700" dirty="0"/>
          </a:p>
        </p:txBody>
      </p:sp>
      <p:graphicFrame>
        <p:nvGraphicFramePr>
          <p:cNvPr id="12" name="Chart 0" descr=""/>
          <p:cNvGraphicFramePr/>
          <p:nvPr/>
        </p:nvGraphicFramePr>
        <p:xfrm>
          <a:off x="6172200" y="1600200"/>
          <a:ext cx="5468112" cy="4572000"/>
        </p:xfrm>
        <a:graphic xmlns:a="http://schemas.openxmlformats.org/drawingml/2006/main">
          <a:graphicData uri="http://schemas.openxmlformats.org/drawingml/2006/chart">
            <c:chart xmlns:c="http://schemas.openxmlformats.org/drawingml/2006/chart" r:id="rId1"/>
          </a:graphicData>
        </a:graphic>
      </p:graphicFrame>
      <p:sp>
        <p:nvSpPr>
          <p:cNvPr id="13" name="Text 10"/>
          <p:cNvSpPr txBox="1"/>
          <p:nvPr/>
        </p:nvSpPr>
        <p:spPr>
          <a:xfrm>
            <a:off x="548640" y="6382512"/>
            <a:ext cx="10241280" cy="274320"/>
          </a:xfrm>
          <a:prstGeom prst="rect">
            <a:avLst/>
          </a:prstGeom>
          <a:noFill/>
          <a:ln/>
        </p:spPr>
        <p:txBody>
          <a:bodyPr wrap="square" lIns="0" tIns="0" rIns="0" bIns="0" rtlCol="0" anchor="ctr"/>
          <a:lstStyle/>
          <a:p>
            <a:pPr indent="0" marL="0">
              <a:buNone/>
            </a:pPr>
            <a:r>
              <a:rPr lang="en-US" sz="1100" dirty="0">
                <a:solidFill>
                  <a:srgbClr val="BFBFBF"/>
                </a:solidFill>
                <a:latin typeface="Arial" pitchFamily="34" charset="0"/>
                <a:ea typeface="Arial" pitchFamily="34" charset="-122"/>
                <a:cs typeface="Arial" pitchFamily="34" charset="-120"/>
              </a:rPr>
              <a:t>Fuente: INEGI, Censo 2020 y DENUE 05/2026. Regla tomada del árbol de decisión (sección 3.5 del notebook).</a:t>
            </a:r>
            <a:endParaRPr lang="en-US" sz="1100" dirty="0"/>
          </a:p>
        </p:txBody>
      </p:sp>
      <p:sp>
        <p:nvSpPr>
          <p:cNvPr id="14" name="Shape 11"/>
          <p:cNvSpPr/>
          <p:nvPr/>
        </p:nvSpPr>
        <p:spPr>
          <a:xfrm>
            <a:off x="11292840" y="6309360"/>
            <a:ext cx="384048" cy="384048"/>
          </a:xfrm>
          <a:prstGeom prst="ellipse">
            <a:avLst/>
          </a:prstGeom>
          <a:solidFill>
            <a:srgbClr val="FFC72C"/>
          </a:solidFill>
          <a:ln w="12700">
            <a:solidFill>
              <a:srgbClr val="FFC72C"/>
            </a:solidFill>
            <a:prstDash val="solid"/>
          </a:ln>
        </p:spPr>
      </p:sp>
      <p:sp>
        <p:nvSpPr>
          <p:cNvPr id="15" name="Text 12"/>
          <p:cNvSpPr txBox="1"/>
          <p:nvPr/>
        </p:nvSpPr>
        <p:spPr>
          <a:xfrm>
            <a:off x="11292840" y="6309360"/>
            <a:ext cx="384048" cy="384048"/>
          </a:xfrm>
          <a:prstGeom prst="rect">
            <a:avLst/>
          </a:prstGeom>
          <a:noFill/>
          <a:ln/>
        </p:spPr>
        <p:txBody>
          <a:bodyPr wrap="square" lIns="0" tIns="0" rIns="0" bIns="0" rtlCol="0" anchor="ctr"/>
          <a:lstStyle/>
          <a:p>
            <a:pPr algn="ctr" indent="0" marL="0">
              <a:buNone/>
            </a:pPr>
            <a:r>
              <a:rPr lang="en-US" sz="1200" b="1" dirty="0">
                <a:solidFill>
                  <a:srgbClr val="1A1A1A"/>
                </a:solidFill>
                <a:latin typeface="Arial" pitchFamily="34" charset="0"/>
                <a:ea typeface="Arial" pitchFamily="34" charset="-122"/>
                <a:cs typeface="Arial"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1A1A"/>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548640"/>
          </a:xfrm>
          <a:prstGeom prst="rect">
            <a:avLst/>
          </a:prstGeom>
          <a:noFill/>
          <a:ln/>
        </p:spPr>
        <p:txBody>
          <a:bodyPr wrap="square" lIns="0" tIns="0" rIns="0" bIns="0" rtlCol="0" anchor="t"/>
          <a:lstStyle/>
          <a:p>
            <a:pPr indent="0" marL="0">
              <a:buNone/>
            </a:pPr>
            <a:r>
              <a:rPr lang="en-US" sz="2600" b="1" dirty="0">
                <a:solidFill>
                  <a:srgbClr val="FFFFFF"/>
                </a:solidFill>
                <a:latin typeface="Arial" pitchFamily="34" charset="0"/>
                <a:ea typeface="Arial" pitchFamily="34" charset="-122"/>
                <a:cs typeface="Arial" pitchFamily="34" charset="-120"/>
              </a:rPr>
              <a:t>El modelo reconoce los mercados de la marca</a:t>
            </a:r>
            <a:endParaRPr lang="en-US" sz="2600" dirty="0"/>
          </a:p>
        </p:txBody>
      </p:sp>
      <p:sp>
        <p:nvSpPr>
          <p:cNvPr id="3" name="Text 1"/>
          <p:cNvSpPr txBox="1"/>
          <p:nvPr/>
        </p:nvSpPr>
        <p:spPr>
          <a:xfrm>
            <a:off x="548640" y="987552"/>
            <a:ext cx="11094415" cy="411480"/>
          </a:xfrm>
          <a:prstGeom prst="rect">
            <a:avLst/>
          </a:prstGeom>
          <a:noFill/>
          <a:ln/>
        </p:spPr>
        <p:txBody>
          <a:bodyPr wrap="square" lIns="0" tIns="0" rIns="0" bIns="0" rtlCol="0" anchor="t"/>
          <a:lstStyle/>
          <a:p>
            <a:pPr indent="0" marL="0">
              <a:buNone/>
            </a:pPr>
            <a:r>
              <a:rPr lang="en-US" sz="1800" dirty="0">
                <a:solidFill>
                  <a:srgbClr val="FFC72C"/>
                </a:solidFill>
                <a:latin typeface="Arial" pitchFamily="34" charset="0"/>
                <a:ea typeface="Arial" pitchFamily="34" charset="-122"/>
                <a:cs typeface="Arial" pitchFamily="34" charset="-120"/>
              </a:rPr>
              <a:t>Random forest, validado contra el sitio oficial de McDonald's</a:t>
            </a:r>
            <a:endParaRPr lang="en-US" sz="1800" dirty="0"/>
          </a:p>
        </p:txBody>
      </p:sp>
      <p:sp>
        <p:nvSpPr>
          <p:cNvPr id="4" name="Shape 2"/>
          <p:cNvSpPr/>
          <p:nvPr/>
        </p:nvSpPr>
        <p:spPr>
          <a:xfrm>
            <a:off x="548640" y="1600200"/>
            <a:ext cx="4663440" cy="4572000"/>
          </a:xfrm>
          <a:prstGeom prst="roundRect">
            <a:avLst>
              <a:gd name="adj" fmla="val 3000"/>
            </a:avLst>
          </a:prstGeom>
          <a:solidFill>
            <a:srgbClr val="2B2B2B"/>
          </a:solidFill>
          <a:ln w="12700">
            <a:solidFill>
              <a:srgbClr val="2B2B2B"/>
            </a:solidFill>
            <a:prstDash val="solid"/>
          </a:ln>
        </p:spPr>
      </p:sp>
      <p:sp>
        <p:nvSpPr>
          <p:cNvPr id="5" name="Text 3"/>
          <p:cNvSpPr txBox="1"/>
          <p:nvPr/>
        </p:nvSpPr>
        <p:spPr>
          <a:xfrm>
            <a:off x="822960" y="1783080"/>
            <a:ext cx="4114800" cy="594360"/>
          </a:xfrm>
          <a:prstGeom prst="rect">
            <a:avLst/>
          </a:prstGeom>
          <a:noFill/>
          <a:ln/>
        </p:spPr>
        <p:txBody>
          <a:bodyPr wrap="square" lIns="0" tIns="0" rIns="0" bIns="0" rtlCol="0" anchor="b"/>
          <a:lstStyle/>
          <a:p>
            <a:pPr indent="0" marL="0">
              <a:buNone/>
            </a:pPr>
            <a:r>
              <a:rPr lang="en-US" sz="4000" b="1" dirty="0">
                <a:solidFill>
                  <a:srgbClr val="FFC72C"/>
                </a:solidFill>
                <a:latin typeface="Arial" pitchFamily="34" charset="0"/>
                <a:ea typeface="Arial" pitchFamily="34" charset="-122"/>
                <a:cs typeface="Arial" pitchFamily="34" charset="-120"/>
              </a:rPr>
              <a:t>0.988</a:t>
            </a:r>
            <a:endParaRPr lang="en-US" sz="4000" dirty="0"/>
          </a:p>
        </p:txBody>
      </p:sp>
      <p:sp>
        <p:nvSpPr>
          <p:cNvPr id="6" name="Text 4"/>
          <p:cNvSpPr txBox="1"/>
          <p:nvPr/>
        </p:nvSpPr>
        <p:spPr>
          <a:xfrm>
            <a:off x="822960" y="2423160"/>
            <a:ext cx="4114800" cy="685800"/>
          </a:xfrm>
          <a:prstGeom prst="rect">
            <a:avLst/>
          </a:prstGeom>
          <a:noFill/>
          <a:ln/>
        </p:spPr>
        <p:txBody>
          <a:bodyPr wrap="square" lIns="0" tIns="0" rIns="0" bIns="0" rtlCol="0" anchor="t"/>
          <a:lstStyle/>
          <a:p>
            <a:pPr indent="0" marL="0">
              <a:buNone/>
            </a:pPr>
            <a:r>
              <a:rPr lang="en-US" sz="1600" dirty="0">
                <a:solidFill>
                  <a:srgbClr val="FFFFFF"/>
                </a:solidFill>
                <a:latin typeface="Arial" pitchFamily="34" charset="0"/>
                <a:ea typeface="Arial" pitchFamily="34" charset="-122"/>
                <a:cs typeface="Arial" pitchFamily="34" charset="-120"/>
              </a:rPr>
              <a:t>AUC en el conjunto de prueba (1 = perfecto)</a:t>
            </a:r>
            <a:endParaRPr lang="en-US" sz="1600" dirty="0"/>
          </a:p>
        </p:txBody>
      </p:sp>
      <p:sp>
        <p:nvSpPr>
          <p:cNvPr id="7" name="Text 5"/>
          <p:cNvSpPr txBox="1"/>
          <p:nvPr/>
        </p:nvSpPr>
        <p:spPr>
          <a:xfrm>
            <a:off x="822960" y="3246120"/>
            <a:ext cx="4114800" cy="594360"/>
          </a:xfrm>
          <a:prstGeom prst="rect">
            <a:avLst/>
          </a:prstGeom>
          <a:noFill/>
          <a:ln/>
        </p:spPr>
        <p:txBody>
          <a:bodyPr wrap="square" lIns="0" tIns="0" rIns="0" bIns="0" rtlCol="0" anchor="b"/>
          <a:lstStyle/>
          <a:p>
            <a:pPr indent="0" marL="0">
              <a:buNone/>
            </a:pPr>
            <a:r>
              <a:rPr lang="en-US" sz="4000" b="1" dirty="0">
                <a:solidFill>
                  <a:srgbClr val="FFC72C"/>
                </a:solidFill>
                <a:latin typeface="Arial" pitchFamily="34" charset="0"/>
                <a:ea typeface="Arial" pitchFamily="34" charset="-122"/>
                <a:cs typeface="Arial" pitchFamily="34" charset="-120"/>
              </a:rPr>
              <a:t>0.922</a:t>
            </a:r>
            <a:endParaRPr lang="en-US" sz="4000" dirty="0"/>
          </a:p>
        </p:txBody>
      </p:sp>
      <p:sp>
        <p:nvSpPr>
          <p:cNvPr id="8" name="Text 6"/>
          <p:cNvSpPr txBox="1"/>
          <p:nvPr/>
        </p:nvSpPr>
        <p:spPr>
          <a:xfrm>
            <a:off x="822960" y="3886200"/>
            <a:ext cx="4114800" cy="685800"/>
          </a:xfrm>
          <a:prstGeom prst="rect">
            <a:avLst/>
          </a:prstGeom>
          <a:noFill/>
          <a:ln/>
        </p:spPr>
        <p:txBody>
          <a:bodyPr wrap="square" lIns="0" tIns="0" rIns="0" bIns="0" rtlCol="0" anchor="t"/>
          <a:lstStyle/>
          <a:p>
            <a:pPr indent="0" marL="0">
              <a:buNone/>
            </a:pPr>
            <a:r>
              <a:rPr lang="en-US" sz="1600" dirty="0">
                <a:solidFill>
                  <a:srgbClr val="FFFFFF"/>
                </a:solidFill>
                <a:latin typeface="Arial" pitchFamily="34" charset="0"/>
                <a:ea typeface="Arial" pitchFamily="34" charset="-122"/>
                <a:cs typeface="Arial" pitchFamily="34" charset="-120"/>
              </a:rPr>
              <a:t>AUC entre las 235 ciudades de 100 mil habitantes o más</a:t>
            </a:r>
            <a:endParaRPr lang="en-US" sz="1600" dirty="0"/>
          </a:p>
        </p:txBody>
      </p:sp>
      <p:sp>
        <p:nvSpPr>
          <p:cNvPr id="9" name="Text 7"/>
          <p:cNvSpPr txBox="1"/>
          <p:nvPr/>
        </p:nvSpPr>
        <p:spPr>
          <a:xfrm>
            <a:off x="822960" y="4709160"/>
            <a:ext cx="4114800" cy="594360"/>
          </a:xfrm>
          <a:prstGeom prst="rect">
            <a:avLst/>
          </a:prstGeom>
          <a:noFill/>
          <a:ln/>
        </p:spPr>
        <p:txBody>
          <a:bodyPr wrap="square" lIns="0" tIns="0" rIns="0" bIns="0" rtlCol="0" anchor="b"/>
          <a:lstStyle/>
          <a:p>
            <a:pPr indent="0" marL="0">
              <a:buNone/>
            </a:pPr>
            <a:r>
              <a:rPr lang="en-US" sz="4000" b="1" dirty="0">
                <a:solidFill>
                  <a:srgbClr val="FFC72C"/>
                </a:solidFill>
                <a:latin typeface="Arial" pitchFamily="34" charset="0"/>
                <a:ea typeface="Arial" pitchFamily="34" charset="-122"/>
                <a:cs typeface="Arial" pitchFamily="34" charset="-120"/>
              </a:rPr>
              <a:t>5 de 20</a:t>
            </a:r>
            <a:endParaRPr lang="en-US" sz="4000" dirty="0"/>
          </a:p>
        </p:txBody>
      </p:sp>
      <p:sp>
        <p:nvSpPr>
          <p:cNvPr id="10" name="Text 8"/>
          <p:cNvSpPr txBox="1"/>
          <p:nvPr/>
        </p:nvSpPr>
        <p:spPr>
          <a:xfrm>
            <a:off x="822960" y="5349240"/>
            <a:ext cx="4114800" cy="685800"/>
          </a:xfrm>
          <a:prstGeom prst="rect">
            <a:avLst/>
          </a:prstGeom>
          <a:noFill/>
          <a:ln/>
        </p:spPr>
        <p:txBody>
          <a:bodyPr wrap="square" lIns="0" tIns="0" rIns="0" bIns="0" rtlCol="0" anchor="t"/>
          <a:lstStyle/>
          <a:p>
            <a:pPr indent="0" marL="0">
              <a:buNone/>
            </a:pPr>
            <a:r>
              <a:rPr lang="en-US" sz="1600" dirty="0">
                <a:solidFill>
                  <a:srgbClr val="FFFFFF"/>
                </a:solidFill>
                <a:latin typeface="Arial" pitchFamily="34" charset="0"/>
                <a:ea typeface="Arial" pitchFamily="34" charset="-122"/>
                <a:cs typeface="Arial" pitchFamily="34" charset="-120"/>
              </a:rPr>
              <a:t>candidatos ya tienen McDonald's fuera del DENUE; Apodaca abrió en nov. de 2025</a:t>
            </a:r>
            <a:endParaRPr lang="en-US" sz="1600" dirty="0"/>
          </a:p>
        </p:txBody>
      </p:sp>
      <p:sp>
        <p:nvSpPr>
          <p:cNvPr id="11" name="Shape 9"/>
          <p:cNvSpPr/>
          <p:nvPr/>
        </p:nvSpPr>
        <p:spPr>
          <a:xfrm>
            <a:off x="5388559" y="1681849"/>
            <a:ext cx="6254496" cy="4408702"/>
          </a:xfrm>
          <a:prstGeom prst="roundRect">
            <a:avLst>
              <a:gd name="adj" fmla="val 2489"/>
            </a:avLst>
          </a:prstGeom>
          <a:solidFill>
            <a:srgbClr val="FFFFFF"/>
          </a:solidFill>
          <a:ln w="31750">
            <a:solidFill>
              <a:srgbClr val="FFC72C"/>
            </a:solidFill>
            <a:prstDash val="solid"/>
          </a:ln>
        </p:spPr>
      </p:sp>
      <p:pic>
        <p:nvPicPr>
          <p:cNvPr id="12" name="Image 0" descr="Mapa de municipios con McDonald's y de los 20 candidatos con mayor probabilidad">    </p:cNvPr>
          <p:cNvPicPr>
            <a:picLocks noChangeAspect="1"/>
          </p:cNvPicPr>
          <p:nvPr/>
        </p:nvPicPr>
        <p:blipFill>
          <a:blip r:embed="rId1"/>
          <a:stretch>
            <a:fillRect/>
          </a:stretch>
        </p:blipFill>
        <p:spPr>
          <a:xfrm>
            <a:off x="5498287" y="1791577"/>
            <a:ext cx="6035040" cy="4189246"/>
          </a:xfrm>
          <a:prstGeom prst="rect">
            <a:avLst/>
          </a:prstGeom>
        </p:spPr>
      </p:pic>
      <p:sp>
        <p:nvSpPr>
          <p:cNvPr id="13" name="Text 10"/>
          <p:cNvSpPr txBox="1"/>
          <p:nvPr/>
        </p:nvSpPr>
        <p:spPr>
          <a:xfrm>
            <a:off x="548640" y="6382512"/>
            <a:ext cx="10241280" cy="274320"/>
          </a:xfrm>
          <a:prstGeom prst="rect">
            <a:avLst/>
          </a:prstGeom>
          <a:noFill/>
          <a:ln/>
        </p:spPr>
        <p:txBody>
          <a:bodyPr wrap="square" lIns="0" tIns="0" rIns="0" bIns="0" rtlCol="0" anchor="ctr"/>
          <a:lstStyle/>
          <a:p>
            <a:pPr indent="0" marL="0">
              <a:buNone/>
            </a:pPr>
            <a:r>
              <a:rPr lang="en-US" sz="1100" dirty="0">
                <a:solidFill>
                  <a:srgbClr val="BFBFBF"/>
                </a:solidFill>
                <a:latin typeface="Arial" pitchFamily="34" charset="0"/>
                <a:ea typeface="Arial" pitchFamily="34" charset="-122"/>
                <a:cs typeface="Arial" pitchFamily="34" charset="-120"/>
              </a:rPr>
              <a:t>Fuentes: modelo propio; sitio oficial de McDonald's México (consulta del 19 de septiembre de 2026); ABC Noticias (25 de noviembre de 2025).</a:t>
            </a:r>
            <a:endParaRPr lang="en-US" sz="1100" dirty="0"/>
          </a:p>
        </p:txBody>
      </p:sp>
      <p:sp>
        <p:nvSpPr>
          <p:cNvPr id="14" name="Shape 11"/>
          <p:cNvSpPr/>
          <p:nvPr/>
        </p:nvSpPr>
        <p:spPr>
          <a:xfrm>
            <a:off x="11292840" y="6309360"/>
            <a:ext cx="384048" cy="384048"/>
          </a:xfrm>
          <a:prstGeom prst="ellipse">
            <a:avLst/>
          </a:prstGeom>
          <a:solidFill>
            <a:srgbClr val="FFC72C"/>
          </a:solidFill>
          <a:ln w="12700">
            <a:solidFill>
              <a:srgbClr val="FFC72C"/>
            </a:solidFill>
            <a:prstDash val="solid"/>
          </a:ln>
        </p:spPr>
      </p:sp>
      <p:sp>
        <p:nvSpPr>
          <p:cNvPr id="15" name="Text 12"/>
          <p:cNvSpPr txBox="1"/>
          <p:nvPr/>
        </p:nvSpPr>
        <p:spPr>
          <a:xfrm>
            <a:off x="11292840" y="6309360"/>
            <a:ext cx="384048" cy="384048"/>
          </a:xfrm>
          <a:prstGeom prst="rect">
            <a:avLst/>
          </a:prstGeom>
          <a:noFill/>
          <a:ln/>
        </p:spPr>
        <p:txBody>
          <a:bodyPr wrap="square" lIns="0" tIns="0" rIns="0" bIns="0" rtlCol="0" anchor="ctr"/>
          <a:lstStyle/>
          <a:p>
            <a:pPr algn="ctr" indent="0" marL="0">
              <a:buNone/>
            </a:pPr>
            <a:r>
              <a:rPr lang="en-US" sz="1200" b="1" dirty="0">
                <a:solidFill>
                  <a:srgbClr val="1A1A1A"/>
                </a:solidFill>
                <a:latin typeface="Arial" pitchFamily="34" charset="0"/>
                <a:ea typeface="Arial" pitchFamily="34" charset="-122"/>
                <a:cs typeface="Arial"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1A1A"/>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548640"/>
          </a:xfrm>
          <a:prstGeom prst="rect">
            <a:avLst/>
          </a:prstGeom>
          <a:noFill/>
          <a:ln/>
        </p:spPr>
        <p:txBody>
          <a:bodyPr wrap="square" lIns="0" tIns="0" rIns="0" bIns="0" rtlCol="0" anchor="t"/>
          <a:lstStyle/>
          <a:p>
            <a:pPr indent="0" marL="0">
              <a:buNone/>
            </a:pPr>
            <a:r>
              <a:rPr lang="en-US" sz="2600" b="1" dirty="0">
                <a:solidFill>
                  <a:srgbClr val="FFFFFF"/>
                </a:solidFill>
                <a:latin typeface="Arial" pitchFamily="34" charset="0"/>
                <a:ea typeface="Arial" pitchFamily="34" charset="-122"/>
                <a:cs typeface="Arial" pitchFamily="34" charset="-120"/>
              </a:rPr>
              <a:t>13 oportunidades para iniciar estudios de sitio</a:t>
            </a:r>
            <a:endParaRPr lang="en-US" sz="2600" dirty="0"/>
          </a:p>
        </p:txBody>
      </p:sp>
      <p:sp>
        <p:nvSpPr>
          <p:cNvPr id="3" name="Text 1"/>
          <p:cNvSpPr txBox="1"/>
          <p:nvPr/>
        </p:nvSpPr>
        <p:spPr>
          <a:xfrm>
            <a:off x="548640" y="987552"/>
            <a:ext cx="11094415" cy="411480"/>
          </a:xfrm>
          <a:prstGeom prst="rect">
            <a:avLst/>
          </a:prstGeom>
          <a:noFill/>
          <a:ln/>
        </p:spPr>
        <p:txBody>
          <a:bodyPr wrap="square" lIns="0" tIns="0" rIns="0" bIns="0" rtlCol="0" anchor="t"/>
          <a:lstStyle/>
          <a:p>
            <a:pPr indent="0" marL="0">
              <a:buNone/>
            </a:pPr>
            <a:r>
              <a:rPr lang="en-US" sz="1800" dirty="0">
                <a:solidFill>
                  <a:srgbClr val="FFC72C"/>
                </a:solidFill>
                <a:latin typeface="Arial" pitchFamily="34" charset="0"/>
                <a:ea typeface="Arial" pitchFamily="34" charset="-122"/>
                <a:cs typeface="Arial" pitchFamily="34" charset="-120"/>
              </a:rPr>
              <a:t>Candidatos sin evidencia de sucursal, ordenados por probabilidad de tener perfil McDonald's</a:t>
            </a:r>
            <a:endParaRPr lang="en-US" sz="1800" dirty="0"/>
          </a:p>
        </p:txBody>
      </p:sp>
      <p:graphicFrame>
        <p:nvGraphicFramePr>
          <p:cNvPr id="4" name="Chart 0" descr=""/>
          <p:cNvGraphicFramePr/>
          <p:nvPr/>
        </p:nvGraphicFramePr>
        <p:xfrm>
          <a:off x="548640" y="1600200"/>
          <a:ext cx="5486400" cy="461772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309360" y="1755648"/>
            <a:ext cx="1463040" cy="347472"/>
          </a:xfrm>
          <a:prstGeom prst="roundRect">
            <a:avLst>
              <a:gd name="adj" fmla="val 50000"/>
            </a:avLst>
          </a:prstGeom>
          <a:solidFill>
            <a:srgbClr val="FFC72C"/>
          </a:solidFill>
          <a:ln w="12700">
            <a:solidFill>
              <a:srgbClr val="FFC72C"/>
            </a:solidFill>
            <a:prstDash val="solid"/>
          </a:ln>
        </p:spPr>
      </p:sp>
      <p:sp>
        <p:nvSpPr>
          <p:cNvPr id="6" name="Text 3"/>
          <p:cNvSpPr txBox="1"/>
          <p:nvPr/>
        </p:nvSpPr>
        <p:spPr>
          <a:xfrm>
            <a:off x="6309360" y="1755648"/>
            <a:ext cx="1463040" cy="347472"/>
          </a:xfrm>
          <a:prstGeom prst="rect">
            <a:avLst/>
          </a:prstGeom>
          <a:noFill/>
          <a:ln/>
        </p:spPr>
        <p:txBody>
          <a:bodyPr wrap="square" lIns="0" tIns="0" rIns="0" bIns="0" rtlCol="0" anchor="ctr"/>
          <a:lstStyle/>
          <a:p>
            <a:pPr algn="ctr" indent="0" marL="0">
              <a:buNone/>
            </a:pPr>
            <a:r>
              <a:rPr lang="en-US" sz="1100" b="1" spc="100" kern="0" dirty="0">
                <a:solidFill>
                  <a:srgbClr val="1A1A1A"/>
                </a:solidFill>
                <a:latin typeface="Arial" pitchFamily="34" charset="0"/>
                <a:ea typeface="Arial" pitchFamily="34" charset="-122"/>
                <a:cs typeface="Arial" pitchFamily="34" charset="-120"/>
              </a:rPr>
              <a:t>PRIORIDAD</a:t>
            </a:r>
            <a:endParaRPr lang="en-US" sz="1100" dirty="0"/>
          </a:p>
        </p:txBody>
      </p:sp>
      <p:sp>
        <p:nvSpPr>
          <p:cNvPr id="7" name="Text 4"/>
          <p:cNvSpPr txBox="1"/>
          <p:nvPr/>
        </p:nvSpPr>
        <p:spPr>
          <a:xfrm>
            <a:off x="7955280" y="1737360"/>
            <a:ext cx="3685032" cy="914400"/>
          </a:xfrm>
          <a:prstGeom prst="rect">
            <a:avLst/>
          </a:prstGeom>
          <a:noFill/>
          <a:ln/>
        </p:spPr>
        <p:txBody>
          <a:bodyPr wrap="square" lIns="0" tIns="0" rIns="0" bIns="0" rtlCol="0" anchor="t"/>
          <a:lstStyle/>
          <a:p>
            <a:pPr indent="0" marL="0">
              <a:buNone/>
            </a:pPr>
            <a:r>
              <a:rPr lang="en-US" sz="1800" b="1" dirty="0">
                <a:solidFill>
                  <a:srgbClr val="FFFFFF"/>
                </a:solidFill>
                <a:latin typeface="Arial" pitchFamily="34" charset="0"/>
                <a:ea typeface="Arial" pitchFamily="34" charset="-122"/>
                <a:cs typeface="Arial" pitchFamily="34" charset="-120"/>
              </a:rPr>
              <a:t>Tepic: </a:t>
            </a:r>
            <a:pPr indent="0" marL="0">
              <a:buNone/>
            </a:pPr>
            <a:r>
              <a:rPr lang="en-US" sz="1800" dirty="0">
                <a:solidFill>
                  <a:srgbClr val="FFFFFF"/>
                </a:solidFill>
                <a:latin typeface="Arial" pitchFamily="34" charset="0"/>
                <a:ea typeface="Arial" pitchFamily="34" charset="-122"/>
                <a:cs typeface="Arial" pitchFamily="34" charset="-120"/>
              </a:rPr>
              <a:t>capital de 426 mil habitantes, a 92 km de la sucursal más cercana.</a:t>
            </a:r>
            <a:endParaRPr lang="en-US" sz="1800" dirty="0"/>
          </a:p>
        </p:txBody>
      </p:sp>
      <p:sp>
        <p:nvSpPr>
          <p:cNvPr id="8" name="Shape 5"/>
          <p:cNvSpPr/>
          <p:nvPr/>
        </p:nvSpPr>
        <p:spPr>
          <a:xfrm>
            <a:off x="6309360" y="2871216"/>
            <a:ext cx="1463040" cy="347472"/>
          </a:xfrm>
          <a:prstGeom prst="roundRect">
            <a:avLst>
              <a:gd name="adj" fmla="val 50000"/>
            </a:avLst>
          </a:prstGeom>
          <a:solidFill>
            <a:srgbClr val="FFC72C"/>
          </a:solidFill>
          <a:ln w="12700">
            <a:solidFill>
              <a:srgbClr val="FFC72C"/>
            </a:solidFill>
            <a:prstDash val="solid"/>
          </a:ln>
        </p:spPr>
      </p:sp>
      <p:sp>
        <p:nvSpPr>
          <p:cNvPr id="9" name="Text 6"/>
          <p:cNvSpPr txBox="1"/>
          <p:nvPr/>
        </p:nvSpPr>
        <p:spPr>
          <a:xfrm>
            <a:off x="6309360" y="2871216"/>
            <a:ext cx="1463040" cy="347472"/>
          </a:xfrm>
          <a:prstGeom prst="rect">
            <a:avLst/>
          </a:prstGeom>
          <a:noFill/>
          <a:ln/>
        </p:spPr>
        <p:txBody>
          <a:bodyPr wrap="square" lIns="0" tIns="0" rIns="0" bIns="0" rtlCol="0" anchor="ctr"/>
          <a:lstStyle/>
          <a:p>
            <a:pPr algn="ctr" indent="0" marL="0">
              <a:buNone/>
            </a:pPr>
            <a:r>
              <a:rPr lang="en-US" sz="1100" b="1" spc="100" kern="0" dirty="0">
                <a:solidFill>
                  <a:srgbClr val="1A1A1A"/>
                </a:solidFill>
                <a:latin typeface="Arial" pitchFamily="34" charset="0"/>
                <a:ea typeface="Arial" pitchFamily="34" charset="-122"/>
                <a:cs typeface="Arial" pitchFamily="34" charset="-120"/>
              </a:rPr>
              <a:t>DENSIFICAR</a:t>
            </a:r>
            <a:endParaRPr lang="en-US" sz="1100" dirty="0"/>
          </a:p>
        </p:txBody>
      </p:sp>
      <p:sp>
        <p:nvSpPr>
          <p:cNvPr id="10" name="Text 7"/>
          <p:cNvSpPr txBox="1"/>
          <p:nvPr/>
        </p:nvSpPr>
        <p:spPr>
          <a:xfrm>
            <a:off x="7955280" y="2852928"/>
            <a:ext cx="3685032" cy="914400"/>
          </a:xfrm>
          <a:prstGeom prst="rect">
            <a:avLst/>
          </a:prstGeom>
          <a:noFill/>
          <a:ln/>
        </p:spPr>
        <p:txBody>
          <a:bodyPr wrap="square" lIns="0" tIns="0" rIns="0" bIns="0" rtlCol="0" anchor="t"/>
          <a:lstStyle/>
          <a:p>
            <a:pPr indent="0" marL="0">
              <a:buNone/>
            </a:pPr>
            <a:r>
              <a:rPr lang="en-US" sz="1800" dirty="0">
                <a:solidFill>
                  <a:srgbClr val="FFFFFF"/>
                </a:solidFill>
                <a:latin typeface="Arial" pitchFamily="34" charset="0"/>
                <a:ea typeface="Arial" pitchFamily="34" charset="-122"/>
                <a:cs typeface="Arial" pitchFamily="34" charset="-120"/>
              </a:rPr>
              <a:t>Corregidora, Xochimilco, Soledad, Juárez (N. L.), Nicolás Romero, Tizayuca y Salamanca.</a:t>
            </a:r>
            <a:endParaRPr lang="en-US" sz="1800" dirty="0"/>
          </a:p>
        </p:txBody>
      </p:sp>
      <p:sp>
        <p:nvSpPr>
          <p:cNvPr id="11" name="Shape 8"/>
          <p:cNvSpPr/>
          <p:nvPr/>
        </p:nvSpPr>
        <p:spPr>
          <a:xfrm>
            <a:off x="6309360" y="3986784"/>
            <a:ext cx="1463040" cy="347472"/>
          </a:xfrm>
          <a:prstGeom prst="roundRect">
            <a:avLst>
              <a:gd name="adj" fmla="val 50000"/>
            </a:avLst>
          </a:prstGeom>
          <a:solidFill>
            <a:srgbClr val="FFC72C"/>
          </a:solidFill>
          <a:ln w="12700">
            <a:solidFill>
              <a:srgbClr val="FFC72C"/>
            </a:solidFill>
            <a:prstDash val="solid"/>
          </a:ln>
        </p:spPr>
      </p:sp>
      <p:sp>
        <p:nvSpPr>
          <p:cNvPr id="12" name="Text 9"/>
          <p:cNvSpPr txBox="1"/>
          <p:nvPr/>
        </p:nvSpPr>
        <p:spPr>
          <a:xfrm>
            <a:off x="6309360" y="3986784"/>
            <a:ext cx="1463040" cy="347472"/>
          </a:xfrm>
          <a:prstGeom prst="rect">
            <a:avLst/>
          </a:prstGeom>
          <a:noFill/>
          <a:ln/>
        </p:spPr>
        <p:txBody>
          <a:bodyPr wrap="square" lIns="0" tIns="0" rIns="0" bIns="0" rtlCol="0" anchor="ctr"/>
          <a:lstStyle/>
          <a:p>
            <a:pPr algn="ctr" indent="0" marL="0">
              <a:buNone/>
            </a:pPr>
            <a:r>
              <a:rPr lang="en-US" sz="1100" b="1" spc="100" kern="0" dirty="0">
                <a:solidFill>
                  <a:srgbClr val="1A1A1A"/>
                </a:solidFill>
                <a:latin typeface="Arial" pitchFamily="34" charset="0"/>
                <a:ea typeface="Arial" pitchFamily="34" charset="-122"/>
                <a:cs typeface="Arial" pitchFamily="34" charset="-120"/>
              </a:rPr>
              <a:t>NUEVOS</a:t>
            </a:r>
            <a:endParaRPr lang="en-US" sz="1100" dirty="0"/>
          </a:p>
        </p:txBody>
      </p:sp>
      <p:sp>
        <p:nvSpPr>
          <p:cNvPr id="13" name="Text 10"/>
          <p:cNvSpPr txBox="1"/>
          <p:nvPr/>
        </p:nvSpPr>
        <p:spPr>
          <a:xfrm>
            <a:off x="7955280" y="3968496"/>
            <a:ext cx="3685032" cy="621792"/>
          </a:xfrm>
          <a:prstGeom prst="rect">
            <a:avLst/>
          </a:prstGeom>
          <a:noFill/>
          <a:ln/>
        </p:spPr>
        <p:txBody>
          <a:bodyPr wrap="square" lIns="0" tIns="0" rIns="0" bIns="0" rtlCol="0" anchor="t"/>
          <a:lstStyle/>
          <a:p>
            <a:pPr indent="0" marL="0">
              <a:buNone/>
            </a:pPr>
            <a:r>
              <a:rPr lang="en-US" sz="1800" dirty="0">
                <a:solidFill>
                  <a:srgbClr val="FFFFFF"/>
                </a:solidFill>
                <a:latin typeface="Arial" pitchFamily="34" charset="0"/>
                <a:ea typeface="Arial" pitchFamily="34" charset="-122"/>
                <a:cs typeface="Arial" pitchFamily="34" charset="-120"/>
              </a:rPr>
              <a:t>Delicias, San Luis Río Colorado y Poza Rica.</a:t>
            </a:r>
            <a:endParaRPr lang="en-US" sz="1800" dirty="0"/>
          </a:p>
        </p:txBody>
      </p:sp>
      <p:sp>
        <p:nvSpPr>
          <p:cNvPr id="14" name="Shape 11"/>
          <p:cNvSpPr/>
          <p:nvPr/>
        </p:nvSpPr>
        <p:spPr>
          <a:xfrm>
            <a:off x="6309360" y="4809744"/>
            <a:ext cx="1463040" cy="347472"/>
          </a:xfrm>
          <a:prstGeom prst="roundRect">
            <a:avLst>
              <a:gd name="adj" fmla="val 50000"/>
            </a:avLst>
          </a:prstGeom>
          <a:solidFill>
            <a:srgbClr val="DA291C"/>
          </a:solidFill>
          <a:ln w="12700">
            <a:solidFill>
              <a:srgbClr val="DA291C"/>
            </a:solidFill>
            <a:prstDash val="solid"/>
          </a:ln>
        </p:spPr>
      </p:sp>
      <p:sp>
        <p:nvSpPr>
          <p:cNvPr id="15" name="Text 12"/>
          <p:cNvSpPr txBox="1"/>
          <p:nvPr/>
        </p:nvSpPr>
        <p:spPr>
          <a:xfrm>
            <a:off x="6309360" y="4809744"/>
            <a:ext cx="1463040" cy="347472"/>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CAUTELA</a:t>
            </a:r>
            <a:endParaRPr lang="en-US" sz="1100" dirty="0"/>
          </a:p>
        </p:txBody>
      </p:sp>
      <p:sp>
        <p:nvSpPr>
          <p:cNvPr id="16" name="Text 13"/>
          <p:cNvSpPr txBox="1"/>
          <p:nvPr/>
        </p:nvSpPr>
        <p:spPr>
          <a:xfrm>
            <a:off x="7955280" y="4791456"/>
            <a:ext cx="3685032" cy="621792"/>
          </a:xfrm>
          <a:prstGeom prst="rect">
            <a:avLst/>
          </a:prstGeom>
          <a:noFill/>
          <a:ln/>
        </p:spPr>
        <p:txBody>
          <a:bodyPr wrap="square" lIns="0" tIns="0" rIns="0" bIns="0" rtlCol="0" anchor="t"/>
          <a:lstStyle/>
          <a:p>
            <a:pPr indent="0" marL="0">
              <a:buNone/>
            </a:pPr>
            <a:r>
              <a:rPr lang="en-US" sz="1800" dirty="0">
                <a:solidFill>
                  <a:srgbClr val="FFFFFF"/>
                </a:solidFill>
                <a:latin typeface="Arial" pitchFamily="34" charset="0"/>
                <a:ea typeface="Arial" pitchFamily="34" charset="-122"/>
                <a:cs typeface="Arial" pitchFamily="34" charset="-120"/>
              </a:rPr>
              <a:t>Manzanillo y Villa de Álvarez: la marca cerró en Colima en 2025.</a:t>
            </a:r>
            <a:endParaRPr lang="en-US" sz="1800" dirty="0"/>
          </a:p>
        </p:txBody>
      </p:sp>
      <p:sp>
        <p:nvSpPr>
          <p:cNvPr id="17" name="Shape 14"/>
          <p:cNvSpPr/>
          <p:nvPr/>
        </p:nvSpPr>
        <p:spPr>
          <a:xfrm>
            <a:off x="6309360" y="5632704"/>
            <a:ext cx="1463040" cy="347472"/>
          </a:xfrm>
          <a:prstGeom prst="roundRect">
            <a:avLst>
              <a:gd name="adj" fmla="val 50000"/>
            </a:avLst>
          </a:prstGeom>
          <a:solidFill>
            <a:srgbClr val="FFFFFF"/>
          </a:solidFill>
          <a:ln w="12700">
            <a:solidFill>
              <a:srgbClr val="FFFFFF"/>
            </a:solidFill>
            <a:prstDash val="solid"/>
          </a:ln>
        </p:spPr>
      </p:sp>
      <p:sp>
        <p:nvSpPr>
          <p:cNvPr id="18" name="Text 15"/>
          <p:cNvSpPr txBox="1"/>
          <p:nvPr/>
        </p:nvSpPr>
        <p:spPr>
          <a:xfrm>
            <a:off x="6309360" y="5632704"/>
            <a:ext cx="1463040" cy="347472"/>
          </a:xfrm>
          <a:prstGeom prst="rect">
            <a:avLst/>
          </a:prstGeom>
          <a:noFill/>
          <a:ln/>
        </p:spPr>
        <p:txBody>
          <a:bodyPr wrap="square" lIns="0" tIns="0" rIns="0" bIns="0" rtlCol="0" anchor="ctr"/>
          <a:lstStyle/>
          <a:p>
            <a:pPr algn="ctr" indent="0" marL="0">
              <a:buNone/>
            </a:pPr>
            <a:r>
              <a:rPr lang="en-US" sz="1100" b="1" spc="100" kern="0" dirty="0">
                <a:solidFill>
                  <a:srgbClr val="1A1A1A"/>
                </a:solidFill>
                <a:latin typeface="Arial" pitchFamily="34" charset="0"/>
                <a:ea typeface="Arial" pitchFamily="34" charset="-122"/>
                <a:cs typeface="Arial" pitchFamily="34" charset="-120"/>
              </a:rPr>
              <a:t>SIGUIENTE</a:t>
            </a:r>
            <a:endParaRPr lang="en-US" sz="1100" dirty="0"/>
          </a:p>
        </p:txBody>
      </p:sp>
      <p:sp>
        <p:nvSpPr>
          <p:cNvPr id="19" name="Text 16"/>
          <p:cNvSpPr txBox="1"/>
          <p:nvPr/>
        </p:nvSpPr>
        <p:spPr>
          <a:xfrm>
            <a:off x="7955280" y="5614416"/>
            <a:ext cx="3685032" cy="621792"/>
          </a:xfrm>
          <a:prstGeom prst="rect">
            <a:avLst/>
          </a:prstGeom>
          <a:noFill/>
          <a:ln/>
        </p:spPr>
        <p:txBody>
          <a:bodyPr wrap="square" lIns="0" tIns="0" rIns="0" bIns="0" rtlCol="0" anchor="t"/>
          <a:lstStyle/>
          <a:p>
            <a:pPr indent="0" marL="0">
              <a:buNone/>
            </a:pPr>
            <a:r>
              <a:rPr lang="en-US" sz="1800" dirty="0">
                <a:solidFill>
                  <a:srgbClr val="FFFFFF"/>
                </a:solidFill>
                <a:latin typeface="Arial" pitchFamily="34" charset="0"/>
                <a:ea typeface="Arial" pitchFamily="34" charset="-122"/>
                <a:cs typeface="Arial" pitchFamily="34" charset="-120"/>
              </a:rPr>
              <a:t>Estudio de sitio y aforos en los 13 municipios.</a:t>
            </a:r>
            <a:endParaRPr lang="en-US" sz="1800" dirty="0"/>
          </a:p>
        </p:txBody>
      </p:sp>
      <p:sp>
        <p:nvSpPr>
          <p:cNvPr id="20" name="Text 17"/>
          <p:cNvSpPr txBox="1"/>
          <p:nvPr/>
        </p:nvSpPr>
        <p:spPr>
          <a:xfrm>
            <a:off x="548640" y="6382512"/>
            <a:ext cx="10241280" cy="274320"/>
          </a:xfrm>
          <a:prstGeom prst="rect">
            <a:avLst/>
          </a:prstGeom>
          <a:noFill/>
          <a:ln/>
        </p:spPr>
        <p:txBody>
          <a:bodyPr wrap="square" lIns="0" tIns="0" rIns="0" bIns="0" rtlCol="0" anchor="ctr"/>
          <a:lstStyle/>
          <a:p>
            <a:pPr indent="0" marL="0">
              <a:buNone/>
            </a:pPr>
            <a:r>
              <a:rPr lang="en-US" sz="1100" dirty="0">
                <a:solidFill>
                  <a:srgbClr val="BFBFBF"/>
                </a:solidFill>
                <a:latin typeface="Arial" pitchFamily="34" charset="0"/>
                <a:ea typeface="Arial" pitchFamily="34" charset="-122"/>
                <a:cs typeface="Arial" pitchFamily="34" charset="-120"/>
              </a:rPr>
              <a:t>Fuente: modelo propio sobre DENUE 05/2026 y Censo 2020; validación externa del 19 de septiembre de 2026.</a:t>
            </a:r>
            <a:endParaRPr lang="en-US" sz="1100" dirty="0"/>
          </a:p>
        </p:txBody>
      </p:sp>
      <p:sp>
        <p:nvSpPr>
          <p:cNvPr id="21" name="Shape 18"/>
          <p:cNvSpPr/>
          <p:nvPr/>
        </p:nvSpPr>
        <p:spPr>
          <a:xfrm>
            <a:off x="11292840" y="6309360"/>
            <a:ext cx="384048" cy="384048"/>
          </a:xfrm>
          <a:prstGeom prst="ellipse">
            <a:avLst/>
          </a:prstGeom>
          <a:solidFill>
            <a:srgbClr val="FFC72C"/>
          </a:solidFill>
          <a:ln w="12700">
            <a:solidFill>
              <a:srgbClr val="FFC72C"/>
            </a:solidFill>
            <a:prstDash val="solid"/>
          </a:ln>
        </p:spPr>
      </p:sp>
      <p:sp>
        <p:nvSpPr>
          <p:cNvPr id="22" name="Text 19"/>
          <p:cNvSpPr txBox="1"/>
          <p:nvPr/>
        </p:nvSpPr>
        <p:spPr>
          <a:xfrm>
            <a:off x="11292840" y="6309360"/>
            <a:ext cx="384048" cy="384048"/>
          </a:xfrm>
          <a:prstGeom prst="rect">
            <a:avLst/>
          </a:prstGeom>
          <a:noFill/>
          <a:ln/>
        </p:spPr>
        <p:txBody>
          <a:bodyPr wrap="square" lIns="0" tIns="0" rIns="0" bIns="0" rtlCol="0" anchor="ctr"/>
          <a:lstStyle/>
          <a:p>
            <a:pPr algn="ctr" indent="0" marL="0">
              <a:buNone/>
            </a:pPr>
            <a:r>
              <a:rPr lang="en-US" sz="1200" b="1" dirty="0">
                <a:solidFill>
                  <a:srgbClr val="1A1A1A"/>
                </a:solidFill>
                <a:latin typeface="Arial" pitchFamily="34" charset="0"/>
                <a:ea typeface="Arial" pitchFamily="34" charset="-122"/>
                <a:cs typeface="Arial" pitchFamily="34" charset="-120"/>
              </a:rPr>
              <a:t>5</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Diplomado en Técnicas Estadísticas y Minería de Datos, FES Acatlán, UNAM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¿Dónde debe abrir McDonald's sus próximas sucursales en México?</dc:title>
  <dc:subject>PptxGenJS Presentation</dc:subject>
  <dc:creator>Diego Jiménez González</dc:creator>
  <cp:lastModifiedBy>Diego Jiménez González</cp:lastModifiedBy>
  <cp:revision>1</cp:revision>
  <dcterms:created xsi:type="dcterms:W3CDTF">2026-09-24T01:05:31Z</dcterms:created>
  <dcterms:modified xsi:type="dcterms:W3CDTF">2026-09-24T01:05:31Z</dcterms:modified>
</cp:coreProperties>
</file>